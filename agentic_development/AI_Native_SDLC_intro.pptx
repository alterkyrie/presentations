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10-minute appetizer for Anthropic's "AI-native SDLC playbook" — a 40-minute read I'd like everyone to go through before or during the retreat. Goal today: give you the map, so the full article is easy to digest, and seed a few discussion questions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playbook's starting point: our SDLC — gates, reviews, handoffs, sign-offs — was designed for a world where writing code was the slowest, most expensive step. PRDs and estimation rituals existed to align people before weeks of coding. Now an agent can do the build in hours, so the slow parts are everything around it. Example from the article: security teams are sized for human output. When agents multiply output, either the review queue grows or code ships under-reviewed — neither is acceptable. So the rest of the lifecycle needs the same transformation the coding step already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stages are the familiar ones: plan, design, build, test, deploy, maintain. What changes is the shape. Traditionally it's a line of phases owned by different roles — PM, architect, engineer, QA, release, ops — and work moves by documents and sign-offs. In the AI-native version it's a loop: Claude is embedded in each stage, handoffs trigger automatically, and maintenance feeds new work back into planning (the orange arrow). Important: this is not "remove the humans". People stay accountable for every judgment call — but their attention shifts from doing each step to reviewing at the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idea in the article. Each stage ends by writing something to version control, and the next stage starts by reading it. Early on these are markdown files — intent.md, spec.md, plan.md — because both a product owner and an agent can read and act on the same file. From Build onward it's code, tests and the PR with review findings. Two consequences: first, handoffs can be automated — accepting one artifact triggers the next step. Second, governance comes for free: git history shows who asked for what, what the agent did and who approved it. The article also has a sidebar on legacy tools like Jira: pick one system as the source of truth per artifact, or at minimum link them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quick walk through the six stages. Plan: instead of an idea passing through backlog entries, user stories and refinement meetings — losing meaning at every handoff — the originator brainstorms with Claude, which asks the questions an analyst would ask, and writes intent.md using an agreed template. The product owner reviews and accepts it. Design: the accepted intent goes to Claude, which produces spec.md in one session, guided by the organization's standards encoded as skills. It flags areas of concern, especially conflicting policies. A human still decides whether it proceeds. Later this can be fully triggered: merging an intent.md kicks off the spec pass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is where most of us already use AI, but the playbook adds structure. One: start in plan mode. Claude can read but not edit, proposes which files change, in what order, and which tests prove it. You interrogate the plan, then commit it as plan.md — with a good plan, implementation is often a single pass. Two: CLAUDE.md — under a page, checked into the repo, the rule being "same mistake twice, it goes in". Three: skills for knowledge that must be applied consistently, like a security standard. Skills are advisory. Four: hooks are the deterministic layer behind them. Skill makes a violation rare; hook makes it close to impossible. Once that's in place, one engineer can run two or three sessions in parallel — the limit is how much you can properly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Traditionally the signal that code works arrives late — CI minutes later, a tester days later, production weeks later. With agents producing the code, a late signal means a human has to check everything, and that human becomes the bottleneck. So: give the session a way to check itself. Wrap build and test into single commands, list them in CLAUDE.md, state a measurable target. For bug fixes, write the failing test first and forbid the agent from editing it — a hook can enforce that, because an agent fixing code must not be able to weaken the check. The second play is evals: a suite of real tasks that runs whenever the agent's configuration changes or a model is swapped, so CLAUDE.md and skills get regression-tested just like code. Every production incident becomes a new 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capacity was planned around human output. With agents writing most of the diff, line-by-line human review doesn't scale. So Claude both gives and receives reviews: every PR gets identical review passes defined in a REVIEW.md, findings ranked by severity, and Claude addresses review comments on its own PRs. Humans move up a level: does the change do what the plan intended, and is the risk acceptable? Branch protection still requires a code owner's approval. Hooks also act as approval gates — e.g. a production deploy is blocked unless there's a release authorization. And CI/CD gets tiered autonomy: in dev the agent deploys freely; in production it prepares the release and a named person authorizes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now a human starts each stage. Maintain is where the loop runs on its own. A plain script — no AI — watches a metric like CI failure rate or post-deploy 5xx rate against a rolling baseline. The response tiers are in version-controlled config: at one sigma just log, at two sigma Claude diagnoses read-only, at three sigma Claude may act, but only by opening a PR into the normal review gate or running a pre-approved runbook like rollback. Whatever it finds is written as a new intent.md, so it re-enters the loop at Plan. A human triages: fix now, schedule, or dismiss. The article applies the same idea to recurring security scans and to Claude responding in incident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article is explicit that the plays are modular — you don't transform everything at once. It includes a dependency graph, and several plays have no prerequisites at all. These four are the ones I think fit us best as a first step: a CLAUDE.md in each repo, one-command build and test so the agent can verify itself, plan mode as the default for non-trivial changes, and turning one inconsistently enforced convention into a skill, with a hook behind anything that must always hold. Adjust this slide to whatever we already have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map. Please read the full playbook before or during the retreat — each stage has concrete steps, example files (intent.md, CLAUDE.md, REVIEW.md, hooks, settings) and how to measure whether it worked. There's also a PDF version for offline reading. Three questions I'd like us to come with: where our real bottleneck is, what our first CLAUDE.md would contain, and which of our controls need to stay human versus which could be enforced as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8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8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laude.com/resources/articles/the-ai-native-sdlc-playbook"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pic>
        <p:nvPicPr>
          <p:cNvPr id="2" name="Image 0" descr="Six points on a ring, representing the six stages of the lifecycle as a loop">    </p:cNvPr>
          <p:cNvPicPr>
            <a:picLocks noChangeAspect="1"/>
          </p:cNvPicPr>
          <p:nvPr/>
        </p:nvPicPr>
        <p:blipFill>
          <a:blip r:embed="rId1"/>
          <a:srcRect l="0" r="0" t="0" b="0"/>
          <a:stretch/>
        </p:blipFill>
        <p:spPr>
          <a:xfrm>
            <a:off x="8255000" y="1905000"/>
            <a:ext cx="3048000" cy="3048000"/>
          </a:xfrm>
          <a:prstGeom prst="rect">
            <a:avLst/>
          </a:prstGeom>
        </p:spPr>
      </p:pic>
      <p:sp>
        <p:nvSpPr>
          <p:cNvPr id="3" name="Text 0"/>
          <p:cNvSpPr/>
          <p:nvPr>
            <p:ph type="title"/>
          </p:nvPr>
        </p:nvSpPr>
        <p:spPr>
          <a:xfrm>
            <a:off x="812800" y="2021840"/>
            <a:ext cx="10883392" cy="194564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4F1EA"/>
                </a:solidFill>
                <a:latin typeface="Space Grotesk" pitchFamily="34" charset="0"/>
                <a:ea typeface="Space Grotesk" pitchFamily="34" charset="-122"/>
                <a:cs typeface="Space Grotesk" pitchFamily="34" charset="-120"/>
              </a:rPr>
              <a:t>The AI-native</a:t>
            </a:r>
            <a:endParaRPr lang="en-US" sz="7200" dirty="0"/>
          </a:p>
          <a:p>
            <a:pPr algn="l" indent="0" marL="0">
              <a:lnSpc>
                <a:spcPts val="7560"/>
              </a:lnSpc>
              <a:buNone/>
            </a:pPr>
            <a:r>
              <a:rPr lang="en-US" sz="7200" b="1" i="0" dirty="0">
                <a:solidFill>
                  <a:srgbClr val="F4F1EA"/>
                </a:solidFill>
                <a:latin typeface="Space Grotesk" pitchFamily="34" charset="0"/>
                <a:ea typeface="Space Grotesk" pitchFamily="34" charset="-122"/>
                <a:cs typeface="Space Grotesk" pitchFamily="34" charset="-120"/>
              </a:rPr>
              <a:t>SDLC</a:t>
            </a:r>
            <a:endParaRPr lang="en-US" sz="7200" dirty="0"/>
          </a:p>
        </p:txBody>
      </p:sp>
      <p:sp>
        <p:nvSpPr>
          <p:cNvPr id="4" name="Text 1"/>
          <p:cNvSpPr/>
          <p:nvPr/>
        </p:nvSpPr>
        <p:spPr>
          <a:xfrm>
            <a:off x="812800" y="4196080"/>
            <a:ext cx="70637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7AFBD"/>
                </a:solidFill>
                <a:latin typeface="Inter" pitchFamily="34" charset="0"/>
                <a:ea typeface="Inter" pitchFamily="34" charset="-122"/>
                <a:cs typeface="Inter" pitchFamily="34" charset="-120"/>
              </a:rPr>
              <a:t>How agents change every stage of the lifecycle, from plan to production. A 10-minute intro to the playbook.</a:t>
            </a:r>
            <a:endParaRPr lang="en-US" sz="1800" dirty="0"/>
          </a:p>
        </p:txBody>
      </p:sp>
      <p:sp>
        <p:nvSpPr>
          <p:cNvPr id="5" name="Text 2"/>
          <p:cNvSpPr/>
          <p:nvPr/>
        </p:nvSpPr>
        <p:spPr>
          <a:xfrm>
            <a:off x="812800" y="623824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AFBD"/>
                </a:solidFill>
                <a:latin typeface="Inter" pitchFamily="34" charset="0"/>
                <a:ea typeface="Inter" pitchFamily="34" charset="-122"/>
                <a:cs typeface="Inter" pitchFamily="34" charset="-120"/>
              </a:rPr>
              <a:t>Anatolii Pastushuk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WHY NOW</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Code is no longer the bottleneck</a:t>
            </a:r>
            <a:endParaRPr lang="en-US" sz="3200" dirty="0"/>
          </a:p>
        </p:txBody>
      </p:sp>
      <p:sp>
        <p:nvSpPr>
          <p:cNvPr id="4" name="Text 2"/>
          <p:cNvSpPr/>
          <p:nvPr/>
        </p:nvSpPr>
        <p:spPr>
          <a:xfrm>
            <a:off x="812800" y="1930400"/>
            <a:ext cx="91567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313B"/>
                </a:solidFill>
                <a:latin typeface="Inter" pitchFamily="34" charset="0"/>
                <a:ea typeface="Inter" pitchFamily="34" charset="-122"/>
                <a:cs typeface="Inter" pitchFamily="34" charset="-120"/>
              </a:rPr>
              <a:t>Agents write code faster than the process around it can absorb. When build shrinks from weeks to hours, three things happen:</a:t>
            </a:r>
            <a:endParaRPr lang="en-US" sz="1800" dirty="0"/>
          </a:p>
        </p:txBody>
      </p:sp>
      <p:sp>
        <p:nvSpPr>
          <p:cNvPr id="5" name="Shape 3"/>
          <p:cNvSpPr/>
          <p:nvPr/>
        </p:nvSpPr>
        <p:spPr>
          <a:xfrm>
            <a:off x="815975" y="2906395"/>
            <a:ext cx="3380264" cy="2330450"/>
          </a:xfrm>
          <a:prstGeom prst="roundRect">
            <a:avLst>
              <a:gd name="adj" fmla="val 5313"/>
            </a:avLst>
          </a:prstGeom>
          <a:solidFill>
            <a:srgbClr val="FFFDF8"/>
          </a:solidFill>
          <a:ln w="6350">
            <a:solidFill>
              <a:srgbClr val="E2DCCF"/>
            </a:solidFill>
            <a:prstDash val="solid"/>
          </a:ln>
        </p:spPr>
      </p:sp>
      <p:sp>
        <p:nvSpPr>
          <p:cNvPr id="6" name="Text 4"/>
          <p:cNvSpPr/>
          <p:nvPr/>
        </p:nvSpPr>
        <p:spPr>
          <a:xfrm>
            <a:off x="1071880" y="3162300"/>
            <a:ext cx="2954507"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4D1C"/>
                </a:solidFill>
                <a:latin typeface="Space Grotesk" pitchFamily="34" charset="0"/>
                <a:ea typeface="Space Grotesk" pitchFamily="34" charset="-122"/>
                <a:cs typeface="Space Grotesk" pitchFamily="34" charset="-120"/>
              </a:rPr>
              <a:t>01</a:t>
            </a:r>
            <a:endParaRPr lang="en-US" sz="1800" dirty="0"/>
          </a:p>
        </p:txBody>
      </p:sp>
      <p:sp>
        <p:nvSpPr>
          <p:cNvPr id="7" name="Text 5"/>
          <p:cNvSpPr/>
          <p:nvPr/>
        </p:nvSpPr>
        <p:spPr>
          <a:xfrm>
            <a:off x="1071880" y="358394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The bottleneck moves</a:t>
            </a:r>
            <a:endParaRPr lang="en-US" sz="1800" dirty="0"/>
          </a:p>
        </p:txBody>
      </p:sp>
      <p:sp>
        <p:nvSpPr>
          <p:cNvPr id="8" name="Text 6"/>
          <p:cNvSpPr/>
          <p:nvPr/>
        </p:nvSpPr>
        <p:spPr>
          <a:xfrm>
            <a:off x="1071880" y="395986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Plan, review, test and deploy still run at human speed.</a:t>
            </a:r>
            <a:endParaRPr lang="en-US" sz="1400" dirty="0"/>
          </a:p>
        </p:txBody>
      </p:sp>
      <p:sp>
        <p:nvSpPr>
          <p:cNvPr id="9" name="Shape 7"/>
          <p:cNvSpPr/>
          <p:nvPr/>
        </p:nvSpPr>
        <p:spPr>
          <a:xfrm>
            <a:off x="4405789" y="2906395"/>
            <a:ext cx="3380343" cy="2330450"/>
          </a:xfrm>
          <a:prstGeom prst="roundRect">
            <a:avLst>
              <a:gd name="adj" fmla="val 5313"/>
            </a:avLst>
          </a:prstGeom>
          <a:solidFill>
            <a:srgbClr val="FFFDF8"/>
          </a:solidFill>
          <a:ln w="6350">
            <a:solidFill>
              <a:srgbClr val="E2DCCF"/>
            </a:solidFill>
            <a:prstDash val="solid"/>
          </a:ln>
        </p:spPr>
      </p:sp>
      <p:sp>
        <p:nvSpPr>
          <p:cNvPr id="10" name="Text 8"/>
          <p:cNvSpPr/>
          <p:nvPr/>
        </p:nvSpPr>
        <p:spPr>
          <a:xfrm>
            <a:off x="4661694" y="3162300"/>
            <a:ext cx="295458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4D1C"/>
                </a:solidFill>
                <a:latin typeface="Space Grotesk" pitchFamily="34" charset="0"/>
                <a:ea typeface="Space Grotesk" pitchFamily="34" charset="-122"/>
                <a:cs typeface="Space Grotesk" pitchFamily="34" charset="-120"/>
              </a:rPr>
              <a:t>02</a:t>
            </a:r>
            <a:endParaRPr lang="en-US" sz="1800" dirty="0"/>
          </a:p>
        </p:txBody>
      </p:sp>
      <p:sp>
        <p:nvSpPr>
          <p:cNvPr id="11" name="Text 9"/>
          <p:cNvSpPr/>
          <p:nvPr/>
        </p:nvSpPr>
        <p:spPr>
          <a:xfrm>
            <a:off x="4661694" y="3583940"/>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Controls stop matching reality</a:t>
            </a:r>
            <a:endParaRPr lang="en-US" sz="1800" dirty="0"/>
          </a:p>
        </p:txBody>
      </p:sp>
      <p:sp>
        <p:nvSpPr>
          <p:cNvPr id="12" name="Text 10"/>
          <p:cNvSpPr/>
          <p:nvPr/>
        </p:nvSpPr>
        <p:spPr>
          <a:xfrm>
            <a:off x="4661694" y="423418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Reading every line by hand can't keep up once agents write most of the diff.</a:t>
            </a:r>
            <a:endParaRPr lang="en-US" sz="1400" dirty="0"/>
          </a:p>
        </p:txBody>
      </p:sp>
      <p:sp>
        <p:nvSpPr>
          <p:cNvPr id="13" name="Shape 11"/>
          <p:cNvSpPr/>
          <p:nvPr/>
        </p:nvSpPr>
        <p:spPr>
          <a:xfrm>
            <a:off x="7995682" y="2906395"/>
            <a:ext cx="3380343" cy="2330450"/>
          </a:xfrm>
          <a:prstGeom prst="roundRect">
            <a:avLst>
              <a:gd name="adj" fmla="val 5313"/>
            </a:avLst>
          </a:prstGeom>
          <a:solidFill>
            <a:srgbClr val="FFFDF8"/>
          </a:solidFill>
          <a:ln w="6350">
            <a:solidFill>
              <a:srgbClr val="E2DCCF"/>
            </a:solidFill>
            <a:prstDash val="solid"/>
          </a:ln>
        </p:spPr>
      </p:sp>
      <p:sp>
        <p:nvSpPr>
          <p:cNvPr id="14" name="Text 12"/>
          <p:cNvSpPr/>
          <p:nvPr/>
        </p:nvSpPr>
        <p:spPr>
          <a:xfrm>
            <a:off x="8251587" y="3162300"/>
            <a:ext cx="295458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4D1C"/>
                </a:solidFill>
                <a:latin typeface="Space Grotesk" pitchFamily="34" charset="0"/>
                <a:ea typeface="Space Grotesk" pitchFamily="34" charset="-122"/>
                <a:cs typeface="Space Grotesk" pitchFamily="34" charset="-120"/>
              </a:rPr>
              <a:t>03</a:t>
            </a:r>
            <a:endParaRPr lang="en-US" sz="1800" dirty="0"/>
          </a:p>
        </p:txBody>
      </p:sp>
      <p:sp>
        <p:nvSpPr>
          <p:cNvPr id="15" name="Text 13"/>
          <p:cNvSpPr/>
          <p:nvPr/>
        </p:nvSpPr>
        <p:spPr>
          <a:xfrm>
            <a:off x="8251587" y="3583940"/>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Governance gets expensive</a:t>
            </a:r>
            <a:endParaRPr lang="en-US" sz="1800" dirty="0"/>
          </a:p>
        </p:txBody>
      </p:sp>
      <p:sp>
        <p:nvSpPr>
          <p:cNvPr id="16" name="Text 14"/>
          <p:cNvSpPr/>
          <p:nvPr/>
        </p:nvSpPr>
        <p:spPr>
          <a:xfrm>
            <a:off x="8251587" y="423418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Exceptions still wait for meetings and committees that meet weekly or monthly.</a:t>
            </a:r>
            <a:endParaRPr lang="en-US" sz="1400" dirty="0"/>
          </a:p>
        </p:txBody>
      </p:sp>
      <p:sp>
        <p:nvSpPr>
          <p:cNvPr id="17" name="Text 15"/>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02 · The AI-native SDLC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THE BIG SHIFT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From a line to a loop</a:t>
            </a:r>
            <a:endParaRPr lang="en-US" sz="3200" dirty="0"/>
          </a:p>
        </p:txBody>
      </p:sp>
      <p:sp>
        <p:nvSpPr>
          <p:cNvPr id="4" name="Text 2"/>
          <p:cNvSpPr/>
          <p:nvPr/>
        </p:nvSpPr>
        <p:spPr>
          <a:xfrm>
            <a:off x="812800" y="2614613"/>
            <a:ext cx="54940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Traditional:</a:t>
            </a:r>
            <a:r>
              <a:rPr lang="en-US" sz="1500" dirty="0">
                <a:solidFill>
                  <a:srgbClr val="4A5260"/>
                </a:solidFill>
                <a:latin typeface="Inter" pitchFamily="34" charset="0"/>
                <a:ea typeface="Inter" pitchFamily="34" charset="-122"/>
                <a:cs typeface="Inter" pitchFamily="34" charset="-120"/>
              </a:rPr>
              <a:t> six phases, each owned by a different role, joined by documents, tickets and sign-offs.</a:t>
            </a:r>
            <a:endParaRPr lang="en-US" sz="1500" dirty="0"/>
          </a:p>
        </p:txBody>
      </p:sp>
      <p:sp>
        <p:nvSpPr>
          <p:cNvPr id="5" name="Text 3"/>
          <p:cNvSpPr/>
          <p:nvPr/>
        </p:nvSpPr>
        <p:spPr>
          <a:xfrm>
            <a:off x="812800" y="3370263"/>
            <a:ext cx="5494020" cy="85407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AI-native:</a:t>
            </a:r>
            <a:r>
              <a:rPr lang="en-US" sz="1500" dirty="0">
                <a:solidFill>
                  <a:srgbClr val="4A5260"/>
                </a:solidFill>
                <a:latin typeface="Inter" pitchFamily="34" charset="0"/>
                <a:ea typeface="Inter" pitchFamily="34" charset="-122"/>
                <a:cs typeface="Inter" pitchFamily="34" charset="-120"/>
              </a:rPr>
              <a:t> the same six stages with AI embedded in each. Handoffs are automated, and problems found in production restart the loop.</a:t>
            </a:r>
            <a:endParaRPr lang="en-US" sz="1500" dirty="0"/>
          </a:p>
        </p:txBody>
      </p:sp>
      <p:sp>
        <p:nvSpPr>
          <p:cNvPr id="6" name="Text 4"/>
          <p:cNvSpPr/>
          <p:nvPr/>
        </p:nvSpPr>
        <p:spPr>
          <a:xfrm>
            <a:off x="812800" y="4402138"/>
            <a:ext cx="54940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Humans stay accountable</a:t>
            </a:r>
            <a:r>
              <a:rPr lang="en-US" sz="1500" dirty="0">
                <a:solidFill>
                  <a:srgbClr val="4A5260"/>
                </a:solidFill>
                <a:latin typeface="Inter" pitchFamily="34" charset="0"/>
                <a:ea typeface="Inter" pitchFamily="34" charset="-122"/>
                <a:cs typeface="Inter" pitchFamily="34" charset="-120"/>
              </a:rPr>
              <a:t> for every decision that needs judgment. Their attention moves to the gates.</a:t>
            </a:r>
            <a:endParaRPr lang="en-US" sz="1500" dirty="0"/>
          </a:p>
        </p:txBody>
      </p:sp>
      <p:sp>
        <p:nvSpPr>
          <p:cNvPr id="7" name="Text 5"/>
          <p:cNvSpPr/>
          <p:nvPr/>
        </p:nvSpPr>
        <p:spPr>
          <a:xfrm>
            <a:off x="8337550" y="210185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FFFDF8"/>
          </a:solidFill>
          <a:ln w="12700">
            <a:solidFill>
              <a:srgbClr val="CFC6B4"/>
            </a:solidFill>
            <a:prstDash val="solid"/>
          </a:ln>
        </p:spPr>
        <p:txBody>
          <a:bodyPr wrap="square" lIns="0" tIns="118110" rIns="0" bIns="92710" rtlCol="0" anchor="t">
            <a:normAutofit/>
          </a:bodyPr>
          <a:lstStyle/>
          <a:p>
            <a:pPr algn="ctr" indent="0" marL="0">
              <a:lnSpc>
                <a:spcPts val="1800"/>
              </a:lnSpc>
              <a:buNone/>
            </a:pPr>
            <a:r>
              <a:rPr lang="en-US" sz="1500" b="1" dirty="0">
                <a:solidFill>
                  <a:srgbClr val="14181F"/>
                </a:solidFill>
                <a:latin typeface="Space Grotesk" pitchFamily="34" charset="0"/>
                <a:ea typeface="Space Grotesk" pitchFamily="34" charset="-122"/>
                <a:cs typeface="Space Grotesk" pitchFamily="34" charset="-120"/>
              </a:rPr>
              <a:t>Plan</a:t>
            </a:r>
            <a:endParaRPr lang="en-US" sz="1500" dirty="0"/>
          </a:p>
        </p:txBody>
      </p:sp>
      <p:sp>
        <p:nvSpPr>
          <p:cNvPr id="8" name="Text 6"/>
          <p:cNvSpPr/>
          <p:nvPr/>
        </p:nvSpPr>
        <p:spPr>
          <a:xfrm>
            <a:off x="9601200" y="283210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FFFDF8"/>
          </a:solidFill>
          <a:ln w="12700">
            <a:solidFill>
              <a:srgbClr val="CFC6B4"/>
            </a:solidFill>
            <a:prstDash val="solid"/>
          </a:ln>
        </p:spPr>
        <p:txBody>
          <a:bodyPr wrap="square" lIns="0" tIns="118110" rIns="0" bIns="92710" rtlCol="0" anchor="t">
            <a:normAutofit/>
          </a:bodyPr>
          <a:lstStyle/>
          <a:p>
            <a:pPr algn="ctr" indent="0" marL="0">
              <a:lnSpc>
                <a:spcPts val="1800"/>
              </a:lnSpc>
              <a:buNone/>
            </a:pPr>
            <a:r>
              <a:rPr lang="en-US" sz="1500" b="1" dirty="0">
                <a:solidFill>
                  <a:srgbClr val="14181F"/>
                </a:solidFill>
                <a:latin typeface="Space Grotesk" pitchFamily="34" charset="0"/>
                <a:ea typeface="Space Grotesk" pitchFamily="34" charset="-122"/>
                <a:cs typeface="Space Grotesk" pitchFamily="34" charset="-120"/>
              </a:rPr>
              <a:t>Design</a:t>
            </a:r>
            <a:endParaRPr lang="en-US" sz="1500" dirty="0"/>
          </a:p>
        </p:txBody>
      </p:sp>
      <p:sp>
        <p:nvSpPr>
          <p:cNvPr id="9" name="Text 7"/>
          <p:cNvSpPr/>
          <p:nvPr/>
        </p:nvSpPr>
        <p:spPr>
          <a:xfrm>
            <a:off x="9601200" y="429260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FFFDF8"/>
          </a:solidFill>
          <a:ln w="12700">
            <a:solidFill>
              <a:srgbClr val="CFC6B4"/>
            </a:solidFill>
            <a:prstDash val="solid"/>
          </a:ln>
        </p:spPr>
        <p:txBody>
          <a:bodyPr wrap="square" lIns="0" tIns="118110" rIns="0" bIns="92710" rtlCol="0" anchor="t">
            <a:normAutofit/>
          </a:bodyPr>
          <a:lstStyle/>
          <a:p>
            <a:pPr algn="ctr" indent="0" marL="0">
              <a:lnSpc>
                <a:spcPts val="1800"/>
              </a:lnSpc>
              <a:buNone/>
            </a:pPr>
            <a:r>
              <a:rPr lang="en-US" sz="1500" b="1" dirty="0">
                <a:solidFill>
                  <a:srgbClr val="14181F"/>
                </a:solidFill>
                <a:latin typeface="Space Grotesk" pitchFamily="34" charset="0"/>
                <a:ea typeface="Space Grotesk" pitchFamily="34" charset="-122"/>
                <a:cs typeface="Space Grotesk" pitchFamily="34" charset="-120"/>
              </a:rPr>
              <a:t>Build</a:t>
            </a:r>
            <a:endParaRPr lang="en-US" sz="1500" dirty="0"/>
          </a:p>
        </p:txBody>
      </p:sp>
      <p:sp>
        <p:nvSpPr>
          <p:cNvPr id="10" name="Text 8"/>
          <p:cNvSpPr/>
          <p:nvPr/>
        </p:nvSpPr>
        <p:spPr>
          <a:xfrm>
            <a:off x="8337550" y="502285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FFFDF8"/>
          </a:solidFill>
          <a:ln w="12700">
            <a:solidFill>
              <a:srgbClr val="CFC6B4"/>
            </a:solidFill>
            <a:prstDash val="solid"/>
          </a:ln>
        </p:spPr>
        <p:txBody>
          <a:bodyPr wrap="square" lIns="0" tIns="118110" rIns="0" bIns="92710" rtlCol="0" anchor="t">
            <a:normAutofit/>
          </a:bodyPr>
          <a:lstStyle/>
          <a:p>
            <a:pPr algn="ctr" indent="0" marL="0">
              <a:lnSpc>
                <a:spcPts val="1800"/>
              </a:lnSpc>
              <a:buNone/>
            </a:pPr>
            <a:r>
              <a:rPr lang="en-US" sz="1500" b="1" dirty="0">
                <a:solidFill>
                  <a:srgbClr val="14181F"/>
                </a:solidFill>
                <a:latin typeface="Space Grotesk" pitchFamily="34" charset="0"/>
                <a:ea typeface="Space Grotesk" pitchFamily="34" charset="-122"/>
                <a:cs typeface="Space Grotesk" pitchFamily="34" charset="-120"/>
              </a:rPr>
              <a:t>Test</a:t>
            </a:r>
            <a:endParaRPr lang="en-US" sz="1500" dirty="0"/>
          </a:p>
        </p:txBody>
      </p:sp>
      <p:sp>
        <p:nvSpPr>
          <p:cNvPr id="11" name="Text 9"/>
          <p:cNvSpPr/>
          <p:nvPr/>
        </p:nvSpPr>
        <p:spPr>
          <a:xfrm>
            <a:off x="7073900" y="429260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FFFDF8"/>
          </a:solidFill>
          <a:ln w="12700">
            <a:solidFill>
              <a:srgbClr val="CFC6B4"/>
            </a:solidFill>
            <a:prstDash val="solid"/>
          </a:ln>
        </p:spPr>
        <p:txBody>
          <a:bodyPr wrap="square" lIns="0" tIns="118110" rIns="0" bIns="92710" rtlCol="0" anchor="t">
            <a:normAutofit/>
          </a:bodyPr>
          <a:lstStyle/>
          <a:p>
            <a:pPr algn="ctr" indent="0" marL="0">
              <a:lnSpc>
                <a:spcPts val="1800"/>
              </a:lnSpc>
              <a:buNone/>
            </a:pPr>
            <a:r>
              <a:rPr lang="en-US" sz="1500" b="1" dirty="0">
                <a:solidFill>
                  <a:srgbClr val="14181F"/>
                </a:solidFill>
                <a:latin typeface="Space Grotesk" pitchFamily="34" charset="0"/>
                <a:ea typeface="Space Grotesk" pitchFamily="34" charset="-122"/>
                <a:cs typeface="Space Grotesk" pitchFamily="34" charset="-120"/>
              </a:rPr>
              <a:t>Deploy</a:t>
            </a:r>
            <a:endParaRPr lang="en-US" sz="1500" dirty="0"/>
          </a:p>
        </p:txBody>
      </p:sp>
      <p:sp>
        <p:nvSpPr>
          <p:cNvPr id="12" name="Text 10"/>
          <p:cNvSpPr/>
          <p:nvPr/>
        </p:nvSpPr>
        <p:spPr>
          <a:xfrm>
            <a:off x="7073900" y="2832100"/>
            <a:ext cx="1257300" cy="464820"/>
          </a:xfrm>
          <a:custGeom>
            <a:avLst/>
            <a:gdLst/>
            <a:ahLst/>
            <a:cxnLst/>
            <a:rect l="l" t="t" r="r" b="b"/>
            <a:pathLst>
              <a:path w="1257300" h="464820">
                <a:moveTo>
                  <a:pt x="222250" y="0"/>
                </a:moveTo>
                <a:lnTo>
                  <a:pt x="1035050" y="0"/>
                </a:lnTo>
                <a:arcTo hR="222250" wR="222250" stAng="16200000" swAng="5400000"/>
                <a:lnTo>
                  <a:pt x="1257300" y="242570"/>
                </a:lnTo>
                <a:arcTo hR="222250" wR="222250" stAng="0" swAng="5400000"/>
                <a:lnTo>
                  <a:pt x="222250" y="464820"/>
                </a:lnTo>
                <a:arcTo hR="222250" wR="222250" stAng="5400000" swAng="5400000"/>
                <a:lnTo>
                  <a:pt x="0" y="222250"/>
                </a:lnTo>
                <a:arcTo hR="222250" wR="222250" stAng="10800000" swAng="5400000"/>
                <a:close/>
              </a:path>
            </a:pathLst>
          </a:custGeom>
          <a:solidFill>
            <a:srgbClr val="B44D1C"/>
          </a:solidFill>
          <a:ln w="12700">
            <a:solidFill>
              <a:srgbClr val="B44D1C"/>
            </a:solidFill>
            <a:prstDash val="solid"/>
          </a:ln>
        </p:spPr>
        <p:txBody>
          <a:bodyPr wrap="square" lIns="0" tIns="118110" rIns="0" bIns="92710" rtlCol="0" anchor="t">
            <a:normAutofit/>
          </a:bodyPr>
          <a:lstStyle/>
          <a:p>
            <a:pPr algn="ctr" indent="0" marL="0">
              <a:lnSpc>
                <a:spcPts val="1800"/>
              </a:lnSpc>
              <a:buNone/>
            </a:pPr>
            <a:r>
              <a:rPr lang="en-US" sz="1500" b="1" dirty="0">
                <a:solidFill>
                  <a:srgbClr val="F4F1EA"/>
                </a:solidFill>
                <a:latin typeface="Space Grotesk" pitchFamily="34" charset="0"/>
                <a:ea typeface="Space Grotesk" pitchFamily="34" charset="-122"/>
                <a:cs typeface="Space Grotesk" pitchFamily="34" charset="-120"/>
              </a:rPr>
              <a:t>Maintain</a:t>
            </a:r>
            <a:endParaRPr lang="en-US" sz="1500" dirty="0"/>
          </a:p>
        </p:txBody>
      </p:sp>
      <p:pic>
        <p:nvPicPr>
          <p:cNvPr id="13" name="Image 0" descr="connector">    </p:cNvPr>
          <p:cNvPicPr>
            <a:picLocks noChangeAspect="1"/>
          </p:cNvPicPr>
          <p:nvPr/>
        </p:nvPicPr>
        <p:blipFill>
          <a:blip r:embed="rId1"/>
          <a:srcRect l="0" r="0" t="0" b="0"/>
          <a:stretch/>
        </p:blipFill>
        <p:spPr>
          <a:xfrm>
            <a:off x="9550400" y="2273300"/>
            <a:ext cx="730250" cy="603250"/>
          </a:xfrm>
          <a:prstGeom prst="rect">
            <a:avLst/>
          </a:prstGeom>
        </p:spPr>
      </p:pic>
      <p:pic>
        <p:nvPicPr>
          <p:cNvPr id="14" name="Image 1" descr="connector">    </p:cNvPr>
          <p:cNvPicPr>
            <a:picLocks noChangeAspect="1"/>
          </p:cNvPicPr>
          <p:nvPr/>
        </p:nvPicPr>
        <p:blipFill>
          <a:blip r:embed="rId2"/>
          <a:srcRect l="0" r="0" t="0" b="0"/>
          <a:stretch/>
        </p:blipFill>
        <p:spPr>
          <a:xfrm>
            <a:off x="10179050" y="3232150"/>
            <a:ext cx="101600" cy="1104900"/>
          </a:xfrm>
          <a:prstGeom prst="rect">
            <a:avLst/>
          </a:prstGeom>
        </p:spPr>
      </p:pic>
      <p:pic>
        <p:nvPicPr>
          <p:cNvPr id="15" name="Image 2" descr="connector">    </p:cNvPr>
          <p:cNvPicPr>
            <a:picLocks noChangeAspect="1"/>
          </p:cNvPicPr>
          <p:nvPr/>
        </p:nvPicPr>
        <p:blipFill>
          <a:blip r:embed="rId3"/>
          <a:srcRect l="0" r="0" t="0" b="0"/>
          <a:stretch/>
        </p:blipFill>
        <p:spPr>
          <a:xfrm>
            <a:off x="9550400" y="4692650"/>
            <a:ext cx="730250" cy="603250"/>
          </a:xfrm>
          <a:prstGeom prst="rect">
            <a:avLst/>
          </a:prstGeom>
        </p:spPr>
      </p:pic>
      <p:pic>
        <p:nvPicPr>
          <p:cNvPr id="16" name="Image 3" descr="connector">    </p:cNvPr>
          <p:cNvPicPr>
            <a:picLocks noChangeAspect="1"/>
          </p:cNvPicPr>
          <p:nvPr/>
        </p:nvPicPr>
        <p:blipFill>
          <a:blip r:embed="rId4"/>
          <a:srcRect l="0" r="0" t="0" b="0"/>
          <a:stretch/>
        </p:blipFill>
        <p:spPr>
          <a:xfrm>
            <a:off x="7651750" y="4692650"/>
            <a:ext cx="730250" cy="603250"/>
          </a:xfrm>
          <a:prstGeom prst="rect">
            <a:avLst/>
          </a:prstGeom>
        </p:spPr>
      </p:pic>
      <p:pic>
        <p:nvPicPr>
          <p:cNvPr id="17" name="Image 4" descr="connector">    </p:cNvPr>
          <p:cNvPicPr>
            <a:picLocks noChangeAspect="1"/>
          </p:cNvPicPr>
          <p:nvPr/>
        </p:nvPicPr>
        <p:blipFill>
          <a:blip r:embed="rId5"/>
          <a:srcRect l="0" r="0" t="0" b="0"/>
          <a:stretch/>
        </p:blipFill>
        <p:spPr>
          <a:xfrm>
            <a:off x="7651750" y="3232150"/>
            <a:ext cx="101600" cy="1104900"/>
          </a:xfrm>
          <a:prstGeom prst="rect">
            <a:avLst/>
          </a:prstGeom>
        </p:spPr>
      </p:pic>
      <p:pic>
        <p:nvPicPr>
          <p:cNvPr id="18" name="Image 5" descr="connector">    </p:cNvPr>
          <p:cNvPicPr>
            <a:picLocks noChangeAspect="1"/>
          </p:cNvPicPr>
          <p:nvPr/>
        </p:nvPicPr>
        <p:blipFill>
          <a:blip r:embed="rId6"/>
          <a:srcRect l="0" r="0" t="0" b="0"/>
          <a:stretch/>
        </p:blipFill>
        <p:spPr>
          <a:xfrm>
            <a:off x="7639050" y="2260600"/>
            <a:ext cx="755650" cy="628650"/>
          </a:xfrm>
          <a:prstGeom prst="rect">
            <a:avLst/>
          </a:prstGeom>
        </p:spPr>
      </p:pic>
      <p:sp>
        <p:nvSpPr>
          <p:cNvPr id="19" name="Text 11"/>
          <p:cNvSpPr/>
          <p:nvPr/>
        </p:nvSpPr>
        <p:spPr>
          <a:xfrm>
            <a:off x="8305800" y="3543300"/>
            <a:ext cx="1320800" cy="45466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6B7280"/>
                </a:solidFill>
                <a:latin typeface="Inter" pitchFamily="34" charset="0"/>
                <a:ea typeface="Inter" pitchFamily="34" charset="-122"/>
                <a:cs typeface="Inter" pitchFamily="34" charset="-120"/>
              </a:rPr>
              <a:t>AI embedded at every stage</a:t>
            </a:r>
            <a:endParaRPr lang="en-US" sz="1300" dirty="0"/>
          </a:p>
        </p:txBody>
      </p:sp>
      <p:sp>
        <p:nvSpPr>
          <p:cNvPr id="20" name="Text 12"/>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03 · The AI-native SDLC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THE COMMON THREAD</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Every stage commits an artifact</a:t>
            </a:r>
            <a:endParaRPr lang="en-US" sz="3200" dirty="0"/>
          </a:p>
        </p:txBody>
      </p:sp>
      <p:sp>
        <p:nvSpPr>
          <p:cNvPr id="4" name="Shape 2"/>
          <p:cNvSpPr/>
          <p:nvPr/>
        </p:nvSpPr>
        <p:spPr>
          <a:xfrm>
            <a:off x="815975" y="1933575"/>
            <a:ext cx="1648857" cy="1094740"/>
          </a:xfrm>
          <a:prstGeom prst="roundRect">
            <a:avLst>
              <a:gd name="adj" fmla="val 8991"/>
            </a:avLst>
          </a:prstGeom>
          <a:solidFill>
            <a:srgbClr val="FFFDF8"/>
          </a:solidFill>
          <a:ln w="6350">
            <a:solidFill>
              <a:srgbClr val="E2DCCF"/>
            </a:solidFill>
            <a:prstDash val="solid"/>
          </a:ln>
        </p:spPr>
      </p:sp>
      <p:sp>
        <p:nvSpPr>
          <p:cNvPr id="5" name="Text 3"/>
          <p:cNvSpPr/>
          <p:nvPr/>
        </p:nvSpPr>
        <p:spPr>
          <a:xfrm>
            <a:off x="995680" y="2113280"/>
            <a:ext cx="13402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EA8"/>
                </a:solidFill>
                <a:latin typeface="Inter" pitchFamily="34" charset="0"/>
                <a:ea typeface="Inter" pitchFamily="34" charset="-122"/>
                <a:cs typeface="Inter" pitchFamily="34" charset="-120"/>
              </a:rPr>
              <a:t>1 · Plan</a:t>
            </a:r>
            <a:endParaRPr lang="en-US" sz="1200" dirty="0"/>
          </a:p>
        </p:txBody>
      </p:sp>
      <p:sp>
        <p:nvSpPr>
          <p:cNvPr id="6" name="Text 4"/>
          <p:cNvSpPr/>
          <p:nvPr/>
        </p:nvSpPr>
        <p:spPr>
          <a:xfrm>
            <a:off x="995680" y="2402841"/>
            <a:ext cx="1340247"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intent.md</a:t>
            </a:r>
            <a:endParaRPr lang="en-US" sz="1300" dirty="0"/>
          </a:p>
        </p:txBody>
      </p:sp>
      <p:sp>
        <p:nvSpPr>
          <p:cNvPr id="7" name="Shape 5"/>
          <p:cNvSpPr/>
          <p:nvPr/>
        </p:nvSpPr>
        <p:spPr>
          <a:xfrm>
            <a:off x="2598182" y="1933575"/>
            <a:ext cx="1648936" cy="1094740"/>
          </a:xfrm>
          <a:prstGeom prst="roundRect">
            <a:avLst>
              <a:gd name="adj" fmla="val 8991"/>
            </a:avLst>
          </a:prstGeom>
          <a:solidFill>
            <a:srgbClr val="FFFDF8"/>
          </a:solidFill>
          <a:ln w="6350">
            <a:solidFill>
              <a:srgbClr val="E2DCCF"/>
            </a:solidFill>
            <a:prstDash val="solid"/>
          </a:ln>
        </p:spPr>
      </p:sp>
      <p:sp>
        <p:nvSpPr>
          <p:cNvPr id="8" name="Text 6"/>
          <p:cNvSpPr/>
          <p:nvPr/>
        </p:nvSpPr>
        <p:spPr>
          <a:xfrm>
            <a:off x="2777887" y="2113280"/>
            <a:ext cx="13403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EA8"/>
                </a:solidFill>
                <a:latin typeface="Inter" pitchFamily="34" charset="0"/>
                <a:ea typeface="Inter" pitchFamily="34" charset="-122"/>
                <a:cs typeface="Inter" pitchFamily="34" charset="-120"/>
              </a:rPr>
              <a:t>2 · Design</a:t>
            </a:r>
            <a:endParaRPr lang="en-US" sz="1200" dirty="0"/>
          </a:p>
        </p:txBody>
      </p:sp>
      <p:sp>
        <p:nvSpPr>
          <p:cNvPr id="9" name="Text 7"/>
          <p:cNvSpPr/>
          <p:nvPr/>
        </p:nvSpPr>
        <p:spPr>
          <a:xfrm>
            <a:off x="2777887" y="2402841"/>
            <a:ext cx="134032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spec.md</a:t>
            </a:r>
            <a:endParaRPr lang="en-US" sz="1300" dirty="0"/>
          </a:p>
        </p:txBody>
      </p:sp>
      <p:sp>
        <p:nvSpPr>
          <p:cNvPr id="10" name="Shape 8"/>
          <p:cNvSpPr/>
          <p:nvPr/>
        </p:nvSpPr>
        <p:spPr>
          <a:xfrm>
            <a:off x="4380468" y="1933575"/>
            <a:ext cx="1648857" cy="1094740"/>
          </a:xfrm>
          <a:prstGeom prst="roundRect">
            <a:avLst>
              <a:gd name="adj" fmla="val 8991"/>
            </a:avLst>
          </a:prstGeom>
          <a:solidFill>
            <a:srgbClr val="FFFDF8"/>
          </a:solidFill>
          <a:ln w="6350">
            <a:solidFill>
              <a:srgbClr val="E2DCCF"/>
            </a:solidFill>
            <a:prstDash val="solid"/>
          </a:ln>
        </p:spPr>
      </p:sp>
      <p:sp>
        <p:nvSpPr>
          <p:cNvPr id="11" name="Text 9"/>
          <p:cNvSpPr/>
          <p:nvPr/>
        </p:nvSpPr>
        <p:spPr>
          <a:xfrm>
            <a:off x="4560173" y="2113280"/>
            <a:ext cx="13402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EA8"/>
                </a:solidFill>
                <a:latin typeface="Inter" pitchFamily="34" charset="0"/>
                <a:ea typeface="Inter" pitchFamily="34" charset="-122"/>
                <a:cs typeface="Inter" pitchFamily="34" charset="-120"/>
              </a:rPr>
              <a:t>3 · Build</a:t>
            </a:r>
            <a:endParaRPr lang="en-US" sz="1200" dirty="0"/>
          </a:p>
        </p:txBody>
      </p:sp>
      <p:sp>
        <p:nvSpPr>
          <p:cNvPr id="12" name="Text 10"/>
          <p:cNvSpPr/>
          <p:nvPr/>
        </p:nvSpPr>
        <p:spPr>
          <a:xfrm>
            <a:off x="4560173" y="2402841"/>
            <a:ext cx="134024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plan.md + diff</a:t>
            </a:r>
            <a:endParaRPr lang="en-US" sz="1300" dirty="0"/>
          </a:p>
        </p:txBody>
      </p:sp>
      <p:sp>
        <p:nvSpPr>
          <p:cNvPr id="13" name="Shape 11"/>
          <p:cNvSpPr/>
          <p:nvPr/>
        </p:nvSpPr>
        <p:spPr>
          <a:xfrm>
            <a:off x="6162675" y="1933575"/>
            <a:ext cx="1648936" cy="1094740"/>
          </a:xfrm>
          <a:prstGeom prst="roundRect">
            <a:avLst>
              <a:gd name="adj" fmla="val 8991"/>
            </a:avLst>
          </a:prstGeom>
          <a:solidFill>
            <a:srgbClr val="FFFDF8"/>
          </a:solidFill>
          <a:ln w="6350">
            <a:solidFill>
              <a:srgbClr val="E2DCCF"/>
            </a:solidFill>
            <a:prstDash val="solid"/>
          </a:ln>
        </p:spPr>
      </p:sp>
      <p:sp>
        <p:nvSpPr>
          <p:cNvPr id="14" name="Text 12"/>
          <p:cNvSpPr/>
          <p:nvPr/>
        </p:nvSpPr>
        <p:spPr>
          <a:xfrm>
            <a:off x="6342380" y="2113280"/>
            <a:ext cx="13403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EA8"/>
                </a:solidFill>
                <a:latin typeface="Inter" pitchFamily="34" charset="0"/>
                <a:ea typeface="Inter" pitchFamily="34" charset="-122"/>
                <a:cs typeface="Inter" pitchFamily="34" charset="-120"/>
              </a:rPr>
              <a:t>4 · Test</a:t>
            </a:r>
            <a:endParaRPr lang="en-US" sz="1200" dirty="0"/>
          </a:p>
        </p:txBody>
      </p:sp>
      <p:sp>
        <p:nvSpPr>
          <p:cNvPr id="15" name="Text 13"/>
          <p:cNvSpPr/>
          <p:nvPr/>
        </p:nvSpPr>
        <p:spPr>
          <a:xfrm>
            <a:off x="6342380" y="2402841"/>
            <a:ext cx="134032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tests + output</a:t>
            </a:r>
            <a:endParaRPr lang="en-US" sz="1300" dirty="0"/>
          </a:p>
        </p:txBody>
      </p:sp>
      <p:sp>
        <p:nvSpPr>
          <p:cNvPr id="16" name="Shape 14"/>
          <p:cNvSpPr/>
          <p:nvPr/>
        </p:nvSpPr>
        <p:spPr>
          <a:xfrm>
            <a:off x="7944962" y="1933575"/>
            <a:ext cx="1648857" cy="1094740"/>
          </a:xfrm>
          <a:prstGeom prst="roundRect">
            <a:avLst>
              <a:gd name="adj" fmla="val 8991"/>
            </a:avLst>
          </a:prstGeom>
          <a:solidFill>
            <a:srgbClr val="FFFDF8"/>
          </a:solidFill>
          <a:ln w="6350">
            <a:solidFill>
              <a:srgbClr val="E2DCCF"/>
            </a:solidFill>
            <a:prstDash val="solid"/>
          </a:ln>
        </p:spPr>
      </p:sp>
      <p:sp>
        <p:nvSpPr>
          <p:cNvPr id="17" name="Text 15"/>
          <p:cNvSpPr/>
          <p:nvPr/>
        </p:nvSpPr>
        <p:spPr>
          <a:xfrm>
            <a:off x="8124666" y="2113280"/>
            <a:ext cx="13402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EA8"/>
                </a:solidFill>
                <a:latin typeface="Inter" pitchFamily="34" charset="0"/>
                <a:ea typeface="Inter" pitchFamily="34" charset="-122"/>
                <a:cs typeface="Inter" pitchFamily="34" charset="-120"/>
              </a:rPr>
              <a:t>5 · Deploy</a:t>
            </a:r>
            <a:endParaRPr lang="en-US" sz="1200" dirty="0"/>
          </a:p>
        </p:txBody>
      </p:sp>
      <p:sp>
        <p:nvSpPr>
          <p:cNvPr id="18" name="Text 16"/>
          <p:cNvSpPr/>
          <p:nvPr/>
        </p:nvSpPr>
        <p:spPr>
          <a:xfrm>
            <a:off x="8124666" y="2402841"/>
            <a:ext cx="134024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PR + review findings</a:t>
            </a:r>
            <a:endParaRPr lang="en-US" sz="1300" dirty="0"/>
          </a:p>
        </p:txBody>
      </p:sp>
      <p:sp>
        <p:nvSpPr>
          <p:cNvPr id="19" name="Shape 17"/>
          <p:cNvSpPr/>
          <p:nvPr/>
        </p:nvSpPr>
        <p:spPr>
          <a:xfrm>
            <a:off x="9727168" y="1933575"/>
            <a:ext cx="1648857" cy="1094740"/>
          </a:xfrm>
          <a:prstGeom prst="roundRect">
            <a:avLst>
              <a:gd name="adj" fmla="val 8991"/>
            </a:avLst>
          </a:prstGeom>
          <a:solidFill>
            <a:srgbClr val="FFFDF8"/>
          </a:solidFill>
          <a:ln w="6350">
            <a:solidFill>
              <a:srgbClr val="E2DCCF"/>
            </a:solidFill>
            <a:prstDash val="solid"/>
          </a:ln>
        </p:spPr>
      </p:sp>
      <p:sp>
        <p:nvSpPr>
          <p:cNvPr id="20" name="Text 18"/>
          <p:cNvSpPr/>
          <p:nvPr/>
        </p:nvSpPr>
        <p:spPr>
          <a:xfrm>
            <a:off x="9906874" y="2113280"/>
            <a:ext cx="13402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D1C"/>
                </a:solidFill>
                <a:latin typeface="Inter" pitchFamily="34" charset="0"/>
                <a:ea typeface="Inter" pitchFamily="34" charset="-122"/>
                <a:cs typeface="Inter" pitchFamily="34" charset="-120"/>
              </a:rPr>
              <a:t>6 · Maintain</a:t>
            </a:r>
            <a:endParaRPr lang="en-US" sz="1200" dirty="0"/>
          </a:p>
        </p:txBody>
      </p:sp>
      <p:sp>
        <p:nvSpPr>
          <p:cNvPr id="21" name="Text 19"/>
          <p:cNvSpPr/>
          <p:nvPr/>
        </p:nvSpPr>
        <p:spPr>
          <a:xfrm>
            <a:off x="9906874" y="2402841"/>
            <a:ext cx="134024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81F"/>
                </a:solidFill>
                <a:latin typeface="JetBrains Mono" pitchFamily="49" charset="0"/>
                <a:ea typeface="JetBrains Mono" pitchFamily="49" charset="-122"/>
                <a:cs typeface="JetBrains Mono" pitchFamily="49" charset="-120"/>
              </a:rPr>
              <a:t>incident → new intent.md</a:t>
            </a:r>
            <a:endParaRPr lang="en-US" sz="1300" dirty="0"/>
          </a:p>
        </p:txBody>
      </p:sp>
      <p:sp>
        <p:nvSpPr>
          <p:cNvPr id="22" name="Text 20"/>
          <p:cNvSpPr/>
          <p:nvPr/>
        </p:nvSpPr>
        <p:spPr>
          <a:xfrm>
            <a:off x="812800" y="3387091"/>
            <a:ext cx="981075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181F"/>
                </a:solidFill>
                <a:latin typeface="Inter" pitchFamily="34" charset="0"/>
                <a:ea typeface="Inter" pitchFamily="34" charset="-122"/>
                <a:cs typeface="Inter" pitchFamily="34" charset="-120"/>
              </a:rPr>
              <a:t>Humans and agents read and act on the same files. The chain of commits is the audit trail: who asked for what, what the agent produced, who approved it.</a:t>
            </a:r>
            <a:endParaRPr lang="en-US" sz="1800" dirty="0"/>
          </a:p>
        </p:txBody>
      </p:sp>
      <p:sp>
        <p:nvSpPr>
          <p:cNvPr id="23" name="Text 21"/>
          <p:cNvSpPr/>
          <p:nvPr/>
        </p:nvSpPr>
        <p:spPr>
          <a:xfrm>
            <a:off x="812800" y="4359911"/>
            <a:ext cx="981075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260"/>
                </a:solidFill>
                <a:latin typeface="Inter" pitchFamily="34" charset="0"/>
                <a:ea typeface="Inter" pitchFamily="34" charset="-122"/>
                <a:cs typeface="Inter" pitchFamily="34" charset="-120"/>
              </a:rPr>
              <a:t>Accepting an artifact fires the next stage: an accepted intent starts design, an approved spec starts planning, a merged PR starts the pipeline, a production alarm writes the next intent.</a:t>
            </a:r>
            <a:endParaRPr lang="en-US" sz="1400" dirty="0"/>
          </a:p>
        </p:txBody>
      </p:sp>
      <p:sp>
        <p:nvSpPr>
          <p:cNvPr id="24" name="Text 2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04 · The AI-native SDLC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STAGES 1–2 · PLAN &amp; DESIGN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Intent first, then a spec</a:t>
            </a:r>
            <a:endParaRPr lang="en-US" sz="3200" dirty="0"/>
          </a:p>
        </p:txBody>
      </p:sp>
      <p:sp>
        <p:nvSpPr>
          <p:cNvPr id="4" name="Shape 2"/>
          <p:cNvSpPr/>
          <p:nvPr/>
        </p:nvSpPr>
        <p:spPr>
          <a:xfrm>
            <a:off x="815975" y="1933575"/>
            <a:ext cx="5175250" cy="2216150"/>
          </a:xfrm>
          <a:prstGeom prst="roundRect">
            <a:avLst>
              <a:gd name="adj" fmla="val 5587"/>
            </a:avLst>
          </a:prstGeom>
          <a:solidFill>
            <a:srgbClr val="FFFDF8"/>
          </a:solidFill>
          <a:ln w="6350">
            <a:solidFill>
              <a:srgbClr val="E2DCCF"/>
            </a:solidFill>
            <a:prstDash val="solid"/>
          </a:ln>
        </p:spPr>
      </p:sp>
      <p:sp>
        <p:nvSpPr>
          <p:cNvPr id="5" name="Text 3"/>
          <p:cNvSpPr/>
          <p:nvPr/>
        </p:nvSpPr>
        <p:spPr>
          <a:xfrm>
            <a:off x="1071880" y="2189482"/>
            <a:ext cx="480334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EA8"/>
                </a:solidFill>
                <a:latin typeface="JetBrains Mono" pitchFamily="49" charset="0"/>
                <a:ea typeface="JetBrains Mono" pitchFamily="49" charset="-122"/>
                <a:cs typeface="JetBrains Mono" pitchFamily="49" charset="-120"/>
              </a:rPr>
              <a:t>intent.md</a:t>
            </a:r>
            <a:endParaRPr lang="en-US" sz="1300" dirty="0"/>
          </a:p>
        </p:txBody>
      </p:sp>
      <p:sp>
        <p:nvSpPr>
          <p:cNvPr id="6" name="Text 4"/>
          <p:cNvSpPr/>
          <p:nvPr/>
        </p:nvSpPr>
        <p:spPr>
          <a:xfrm>
            <a:off x="1071880" y="252222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Capture the idea once</a:t>
            </a:r>
            <a:endParaRPr lang="en-US" sz="1800" dirty="0"/>
          </a:p>
        </p:txBody>
      </p:sp>
      <p:sp>
        <p:nvSpPr>
          <p:cNvPr id="7" name="Text 5"/>
          <p:cNvSpPr/>
          <p:nvPr/>
        </p:nvSpPr>
        <p:spPr>
          <a:xfrm>
            <a:off x="1071880" y="2898139"/>
            <a:ext cx="4803343"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The person with the idea brainstorms it with Claude in plain words. Claude writes intent.md: problem, outcome, users, constraints, open questions. The product owner accepts it.</a:t>
            </a:r>
            <a:endParaRPr lang="en-US" sz="1400" dirty="0"/>
          </a:p>
        </p:txBody>
      </p:sp>
      <p:sp>
        <p:nvSpPr>
          <p:cNvPr id="8" name="Shape 6"/>
          <p:cNvSpPr/>
          <p:nvPr/>
        </p:nvSpPr>
        <p:spPr>
          <a:xfrm>
            <a:off x="6200775" y="1933575"/>
            <a:ext cx="5175250" cy="2216150"/>
          </a:xfrm>
          <a:prstGeom prst="roundRect">
            <a:avLst>
              <a:gd name="adj" fmla="val 5587"/>
            </a:avLst>
          </a:prstGeom>
          <a:solidFill>
            <a:srgbClr val="FFFDF8"/>
          </a:solidFill>
          <a:ln w="6350">
            <a:solidFill>
              <a:srgbClr val="E2DCCF"/>
            </a:solidFill>
            <a:prstDash val="solid"/>
          </a:ln>
        </p:spPr>
      </p:sp>
      <p:sp>
        <p:nvSpPr>
          <p:cNvPr id="9" name="Text 7"/>
          <p:cNvSpPr/>
          <p:nvPr/>
        </p:nvSpPr>
        <p:spPr>
          <a:xfrm>
            <a:off x="6456680" y="2189482"/>
            <a:ext cx="480334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EA8"/>
                </a:solidFill>
                <a:latin typeface="JetBrains Mono" pitchFamily="49" charset="0"/>
                <a:ea typeface="JetBrains Mono" pitchFamily="49" charset="-122"/>
                <a:cs typeface="JetBrains Mono" pitchFamily="49" charset="-120"/>
              </a:rPr>
              <a:t>spec.md</a:t>
            </a:r>
            <a:endParaRPr lang="en-US" sz="1300" dirty="0"/>
          </a:p>
        </p:txBody>
      </p:sp>
      <p:sp>
        <p:nvSpPr>
          <p:cNvPr id="10" name="Text 8"/>
          <p:cNvSpPr/>
          <p:nvPr/>
        </p:nvSpPr>
        <p:spPr>
          <a:xfrm>
            <a:off x="6456680" y="252222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Requirements and design in one session</a:t>
            </a:r>
            <a:endParaRPr lang="en-US" sz="1800" dirty="0"/>
          </a:p>
        </p:txBody>
      </p:sp>
      <p:sp>
        <p:nvSpPr>
          <p:cNvPr id="11" name="Text 9"/>
          <p:cNvSpPr/>
          <p:nvPr/>
        </p:nvSpPr>
        <p:spPr>
          <a:xfrm>
            <a:off x="6456680" y="2898139"/>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Claude turns the accepted intent into a spec, applying security, UX and brand standards as skills. Conflicts get flagged. A human decides if it goes to build.</a:t>
            </a:r>
            <a:endParaRPr lang="en-US" sz="1400" dirty="0"/>
          </a:p>
        </p:txBody>
      </p:sp>
      <p:sp>
        <p:nvSpPr>
          <p:cNvPr id="12" name="Text 10"/>
          <p:cNvSpPr/>
          <p:nvPr/>
        </p:nvSpPr>
        <p:spPr>
          <a:xfrm>
            <a:off x="812800" y="4508500"/>
            <a:ext cx="981075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81F"/>
                </a:solidFill>
                <a:latin typeface="Inter" pitchFamily="34" charset="0"/>
                <a:ea typeface="Inter" pitchFamily="34" charset="-122"/>
                <a:cs typeface="Inter" pitchFamily="34" charset="-120"/>
              </a:rPr>
              <a:t>The payoff:</a:t>
            </a:r>
            <a:r>
              <a:rPr lang="en-US" sz="1500" dirty="0">
                <a:solidFill>
                  <a:srgbClr val="14181F"/>
                </a:solidFill>
                <a:latin typeface="Inter" pitchFamily="34" charset="0"/>
                <a:ea typeface="Inter" pitchFamily="34" charset="-122"/>
                <a:cs typeface="Inter" pitchFamily="34" charset="-120"/>
              </a:rPr>
              <a:t> idea to committed intent in hours instead of weeks of refinement, and policy applied while the spec is written rather than in a review weeks later.</a:t>
            </a:r>
            <a:endParaRPr lang="en-US" sz="15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05 · The AI-native SDLC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STAGE 3 · BUILD</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Plan first, then guardrails as code</a:t>
            </a:r>
            <a:endParaRPr lang="en-US" sz="3200" dirty="0"/>
          </a:p>
        </p:txBody>
      </p:sp>
      <p:sp>
        <p:nvSpPr>
          <p:cNvPr id="4" name="Shape 2"/>
          <p:cNvSpPr/>
          <p:nvPr/>
        </p:nvSpPr>
        <p:spPr>
          <a:xfrm>
            <a:off x="815975" y="1933575"/>
            <a:ext cx="2520950" cy="2736850"/>
          </a:xfrm>
          <a:prstGeom prst="roundRect">
            <a:avLst>
              <a:gd name="adj" fmla="val 4912"/>
            </a:avLst>
          </a:prstGeom>
          <a:solidFill>
            <a:srgbClr val="FFFDF8"/>
          </a:solidFill>
          <a:ln w="6350">
            <a:solidFill>
              <a:srgbClr val="E2DCCF"/>
            </a:solidFill>
            <a:prstDash val="solid"/>
          </a:ln>
        </p:spPr>
      </p:sp>
      <p:pic>
        <p:nvPicPr>
          <p:cNvPr id="5" name="Image 0" descr="Search">    </p:cNvPr>
          <p:cNvPicPr>
            <a:picLocks noChangeAspect="1"/>
          </p:cNvPicPr>
          <p:nvPr/>
        </p:nvPicPr>
        <p:blipFill>
          <a:blip r:embed="rId1"/>
          <a:srcRect l="0" r="0" t="0" b="0"/>
          <a:stretch/>
        </p:blipFill>
        <p:spPr>
          <a:xfrm>
            <a:off x="1046480" y="2164082"/>
            <a:ext cx="304800" cy="304800"/>
          </a:xfrm>
          <a:prstGeom prst="rect">
            <a:avLst/>
          </a:prstGeom>
        </p:spPr>
      </p:pic>
      <p:sp>
        <p:nvSpPr>
          <p:cNvPr id="6" name="Text 3"/>
          <p:cNvSpPr/>
          <p:nvPr/>
        </p:nvSpPr>
        <p:spPr>
          <a:xfrm>
            <a:off x="1046480" y="25704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Plan mode</a:t>
            </a:r>
            <a:endParaRPr lang="en-US" sz="1800" dirty="0"/>
          </a:p>
        </p:txBody>
      </p:sp>
      <p:sp>
        <p:nvSpPr>
          <p:cNvPr id="7" name="Text 4"/>
          <p:cNvSpPr/>
          <p:nvPr/>
        </p:nvSpPr>
        <p:spPr>
          <a:xfrm>
            <a:off x="1046480" y="2946400"/>
            <a:ext cx="2121738" cy="15189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Claude reads the code and proposes files, order and tests. Nothing is edited until the engineer accepts. Saved as plan.md.</a:t>
            </a:r>
            <a:endParaRPr lang="en-US" sz="1400" dirty="0"/>
          </a:p>
        </p:txBody>
      </p:sp>
      <p:sp>
        <p:nvSpPr>
          <p:cNvPr id="8" name="Shape 5"/>
          <p:cNvSpPr/>
          <p:nvPr/>
        </p:nvSpPr>
        <p:spPr>
          <a:xfrm>
            <a:off x="3495675" y="1933575"/>
            <a:ext cx="2520950" cy="2736850"/>
          </a:xfrm>
          <a:prstGeom prst="roundRect">
            <a:avLst>
              <a:gd name="adj" fmla="val 4912"/>
            </a:avLst>
          </a:prstGeom>
          <a:solidFill>
            <a:srgbClr val="FFFDF8"/>
          </a:solidFill>
          <a:ln w="6350">
            <a:solidFill>
              <a:srgbClr val="E2DCCF"/>
            </a:solidFill>
            <a:prstDash val="solid"/>
          </a:ln>
        </p:spPr>
      </p:sp>
      <p:pic>
        <p:nvPicPr>
          <p:cNvPr id="9" name="Image 1" descr="Book">    </p:cNvPr>
          <p:cNvPicPr>
            <a:picLocks noChangeAspect="1"/>
          </p:cNvPicPr>
          <p:nvPr/>
        </p:nvPicPr>
        <p:blipFill>
          <a:blip r:embed="rId2"/>
          <a:srcRect l="0" r="0" t="0" b="0"/>
          <a:stretch/>
        </p:blipFill>
        <p:spPr>
          <a:xfrm>
            <a:off x="3726180" y="2164082"/>
            <a:ext cx="304800" cy="304800"/>
          </a:xfrm>
          <a:prstGeom prst="rect">
            <a:avLst/>
          </a:prstGeom>
        </p:spPr>
      </p:pic>
      <p:sp>
        <p:nvSpPr>
          <p:cNvPr id="10" name="Text 6"/>
          <p:cNvSpPr/>
          <p:nvPr/>
        </p:nvSpPr>
        <p:spPr>
          <a:xfrm>
            <a:off x="3726180" y="25704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CLAUDE.md</a:t>
            </a:r>
            <a:endParaRPr lang="en-US" sz="1800" dirty="0"/>
          </a:p>
        </p:txBody>
      </p:sp>
      <p:sp>
        <p:nvSpPr>
          <p:cNvPr id="11" name="Text 7"/>
          <p:cNvSpPr/>
          <p:nvPr/>
        </p:nvSpPr>
        <p:spPr>
          <a:xfrm>
            <a:off x="3726180" y="2946400"/>
            <a:ext cx="2121738"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What a new joiner needs: commands, conventions, known pitfalls. Same mistake twice? It goes in the file.</a:t>
            </a:r>
            <a:endParaRPr lang="en-US" sz="1400" dirty="0"/>
          </a:p>
        </p:txBody>
      </p:sp>
      <p:sp>
        <p:nvSpPr>
          <p:cNvPr id="12" name="Shape 8"/>
          <p:cNvSpPr/>
          <p:nvPr/>
        </p:nvSpPr>
        <p:spPr>
          <a:xfrm>
            <a:off x="6175375" y="1933575"/>
            <a:ext cx="2520950" cy="2736850"/>
          </a:xfrm>
          <a:prstGeom prst="roundRect">
            <a:avLst>
              <a:gd name="adj" fmla="val 4912"/>
            </a:avLst>
          </a:prstGeom>
          <a:solidFill>
            <a:srgbClr val="FFFDF8"/>
          </a:solidFill>
          <a:ln w="6350">
            <a:solidFill>
              <a:srgbClr val="E2DCCF"/>
            </a:solidFill>
            <a:prstDash val="solid"/>
          </a:ln>
        </p:spPr>
      </p:sp>
      <p:pic>
        <p:nvPicPr>
          <p:cNvPr id="13" name="Image 2" descr="GraduationCap">    </p:cNvPr>
          <p:cNvPicPr>
            <a:picLocks noChangeAspect="1"/>
          </p:cNvPicPr>
          <p:nvPr/>
        </p:nvPicPr>
        <p:blipFill>
          <a:blip r:embed="rId3"/>
          <a:srcRect l="0" r="0" t="0" b="0"/>
          <a:stretch/>
        </p:blipFill>
        <p:spPr>
          <a:xfrm>
            <a:off x="6405880" y="2164082"/>
            <a:ext cx="304800" cy="304800"/>
          </a:xfrm>
          <a:prstGeom prst="rect">
            <a:avLst/>
          </a:prstGeom>
        </p:spPr>
      </p:pic>
      <p:sp>
        <p:nvSpPr>
          <p:cNvPr id="14" name="Text 9"/>
          <p:cNvSpPr/>
          <p:nvPr/>
        </p:nvSpPr>
        <p:spPr>
          <a:xfrm>
            <a:off x="6405880" y="25704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Skills</a:t>
            </a:r>
            <a:endParaRPr lang="en-US" sz="1800" dirty="0"/>
          </a:p>
        </p:txBody>
      </p:sp>
      <p:sp>
        <p:nvSpPr>
          <p:cNvPr id="15" name="Text 10"/>
          <p:cNvSpPr/>
          <p:nvPr/>
        </p:nvSpPr>
        <p:spPr>
          <a:xfrm>
            <a:off x="6405880" y="2946400"/>
            <a:ext cx="2121738"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Institutional knowledge as versioned instructions. Advisory: they make policy violations rare.</a:t>
            </a:r>
            <a:endParaRPr lang="en-US" sz="1400" dirty="0"/>
          </a:p>
        </p:txBody>
      </p:sp>
      <p:sp>
        <p:nvSpPr>
          <p:cNvPr id="16" name="Shape 11"/>
          <p:cNvSpPr/>
          <p:nvPr/>
        </p:nvSpPr>
        <p:spPr>
          <a:xfrm>
            <a:off x="8855075" y="1933575"/>
            <a:ext cx="2520950" cy="2736850"/>
          </a:xfrm>
          <a:prstGeom prst="roundRect">
            <a:avLst>
              <a:gd name="adj" fmla="val 4912"/>
            </a:avLst>
          </a:prstGeom>
          <a:solidFill>
            <a:srgbClr val="FFFDF8"/>
          </a:solidFill>
          <a:ln w="6350">
            <a:solidFill>
              <a:srgbClr val="E2DCCF"/>
            </a:solidFill>
            <a:prstDash val="solid"/>
          </a:ln>
        </p:spPr>
      </p:sp>
      <p:pic>
        <p:nvPicPr>
          <p:cNvPr id="17" name="Image 3" descr="Lock">    </p:cNvPr>
          <p:cNvPicPr>
            <a:picLocks noChangeAspect="1"/>
          </p:cNvPicPr>
          <p:nvPr/>
        </p:nvPicPr>
        <p:blipFill>
          <a:blip r:embed="rId4"/>
          <a:srcRect l="0" r="0" t="0" b="0"/>
          <a:stretch/>
        </p:blipFill>
        <p:spPr>
          <a:xfrm>
            <a:off x="9085580" y="2164082"/>
            <a:ext cx="304800" cy="304800"/>
          </a:xfrm>
          <a:prstGeom prst="rect">
            <a:avLst/>
          </a:prstGeom>
        </p:spPr>
      </p:pic>
      <p:sp>
        <p:nvSpPr>
          <p:cNvPr id="18" name="Text 12"/>
          <p:cNvSpPr/>
          <p:nvPr/>
        </p:nvSpPr>
        <p:spPr>
          <a:xfrm>
            <a:off x="9085580" y="2570482"/>
            <a:ext cx="21217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Hooks</a:t>
            </a:r>
            <a:endParaRPr lang="en-US" sz="1800" dirty="0"/>
          </a:p>
        </p:txBody>
      </p:sp>
      <p:sp>
        <p:nvSpPr>
          <p:cNvPr id="19" name="Text 13"/>
          <p:cNvSpPr/>
          <p:nvPr/>
        </p:nvSpPr>
        <p:spPr>
          <a:xfrm>
            <a:off x="9085580" y="2946400"/>
            <a:ext cx="2121738" cy="15189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Deterministic checks on every action: block protected paths, run the linter, keep secrets out. Violations become near-impossible.</a:t>
            </a:r>
            <a:endParaRPr lang="en-US" sz="1400" dirty="0"/>
          </a:p>
        </p:txBody>
      </p:sp>
      <p:sp>
        <p:nvSpPr>
          <p:cNvPr id="20" name="Text 14"/>
          <p:cNvSpPr/>
          <p:nvPr/>
        </p:nvSpPr>
        <p:spPr>
          <a:xfrm>
            <a:off x="812800" y="5029200"/>
            <a:ext cx="981075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81F"/>
                </a:solidFill>
                <a:latin typeface="Inter" pitchFamily="34" charset="0"/>
                <a:ea typeface="Inter" pitchFamily="34" charset="-122"/>
                <a:cs typeface="Inter" pitchFamily="34" charset="-120"/>
              </a:rPr>
              <a:t>Then scale out:</a:t>
            </a:r>
            <a:r>
              <a:rPr lang="en-US" sz="1500" dirty="0">
                <a:solidFill>
                  <a:srgbClr val="14181F"/>
                </a:solidFill>
                <a:latin typeface="Inter" pitchFamily="34" charset="0"/>
                <a:ea typeface="Inter" pitchFamily="34" charset="-122"/>
                <a:cs typeface="Inter" pitchFamily="34" charset="-120"/>
              </a:rPr>
              <a:t> parallel sessions in separate git worktrees, plus subagents for repeated jobs. The engineer's role shifts to steering and reviewing.</a:t>
            </a:r>
            <a:endParaRPr lang="en-US" sz="1500" dirty="0"/>
          </a:p>
        </p:txBody>
      </p:sp>
      <p:sp>
        <p:nvSpPr>
          <p:cNvPr id="21"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06 · The AI-native SDLC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STAGE 4 · TEST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The agent checks its own work</a:t>
            </a:r>
            <a:endParaRPr lang="en-US" sz="3200" dirty="0"/>
          </a:p>
        </p:txBody>
      </p:sp>
      <p:sp>
        <p:nvSpPr>
          <p:cNvPr id="4" name="Shape 2"/>
          <p:cNvSpPr/>
          <p:nvPr/>
        </p:nvSpPr>
        <p:spPr>
          <a:xfrm>
            <a:off x="812800" y="1930400"/>
            <a:ext cx="3937000" cy="2400300"/>
          </a:xfrm>
          <a:prstGeom prst="roundRect">
            <a:avLst>
              <a:gd name="adj" fmla="val 5291"/>
            </a:avLst>
          </a:prstGeom>
          <a:solidFill>
            <a:srgbClr val="1F2A3D"/>
          </a:solidFill>
          <a:ln/>
        </p:spPr>
      </p:sp>
      <p:sp>
        <p:nvSpPr>
          <p:cNvPr id="5" name="Text 3"/>
          <p:cNvSpPr/>
          <p:nvPr/>
        </p:nvSpPr>
        <p:spPr>
          <a:xfrm>
            <a:off x="1117600" y="2235200"/>
            <a:ext cx="3427222" cy="91694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1EA"/>
                </a:solidFill>
                <a:latin typeface="Space Grotesk" pitchFamily="34" charset="0"/>
                <a:ea typeface="Space Grotesk" pitchFamily="34" charset="-122"/>
                <a:cs typeface="Space Grotesk" pitchFamily="34" charset="-120"/>
              </a:rPr>
              <a:t>Always give Claude a way to verify its work: tests, a build, a screenshot.</a:t>
            </a:r>
            <a:endParaRPr lang="en-US" sz="1800" dirty="0"/>
          </a:p>
        </p:txBody>
      </p:sp>
      <p:sp>
        <p:nvSpPr>
          <p:cNvPr id="6" name="Text 4"/>
          <p:cNvSpPr/>
          <p:nvPr/>
        </p:nvSpPr>
        <p:spPr>
          <a:xfrm>
            <a:off x="1117600" y="3279139"/>
            <a:ext cx="342722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AD6"/>
                </a:solidFill>
                <a:latin typeface="Inter" pitchFamily="34" charset="0"/>
                <a:ea typeface="Inter" pitchFamily="34" charset="-122"/>
                <a:cs typeface="Inter" pitchFamily="34" charset="-120"/>
              </a:rPr>
              <a:t>It iterates until the check passes, so what reaches you has already passed it.</a:t>
            </a:r>
            <a:endParaRPr lang="en-US" sz="1400" dirty="0"/>
          </a:p>
        </p:txBody>
      </p:sp>
      <p:pic>
        <p:nvPicPr>
          <p:cNvPr id="7" name="Image 0" descr="CheckCircle">    </p:cNvPr>
          <p:cNvPicPr>
            <a:picLocks noChangeAspect="1"/>
          </p:cNvPicPr>
          <p:nvPr/>
        </p:nvPicPr>
        <p:blipFill>
          <a:blip r:embed="rId1"/>
          <a:srcRect l="0" r="0" t="0" b="0"/>
          <a:stretch/>
        </p:blipFill>
        <p:spPr>
          <a:xfrm>
            <a:off x="5156200" y="1930400"/>
            <a:ext cx="304800" cy="304800"/>
          </a:xfrm>
          <a:prstGeom prst="rect">
            <a:avLst/>
          </a:prstGeom>
        </p:spPr>
      </p:pic>
      <p:sp>
        <p:nvSpPr>
          <p:cNvPr id="8" name="Text 5"/>
          <p:cNvSpPr/>
          <p:nvPr/>
        </p:nvSpPr>
        <p:spPr>
          <a:xfrm>
            <a:off x="5613400" y="1930400"/>
            <a:ext cx="59387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A feedback loop</a:t>
            </a:r>
            <a:endParaRPr lang="en-US" sz="1800" dirty="0"/>
          </a:p>
        </p:txBody>
      </p:sp>
      <p:sp>
        <p:nvSpPr>
          <p:cNvPr id="9" name="Text 6"/>
          <p:cNvSpPr/>
          <p:nvPr/>
        </p:nvSpPr>
        <p:spPr>
          <a:xfrm>
            <a:off x="5613400" y="2255521"/>
            <a:ext cx="59387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One command each for build and test, a measurable target, and "done" means the checks passed.</a:t>
            </a:r>
            <a:endParaRPr lang="en-US" sz="1400" dirty="0"/>
          </a:p>
        </p:txBody>
      </p:sp>
      <p:pic>
        <p:nvPicPr>
          <p:cNvPr id="10" name="Image 1" descr="Code">    </p:cNvPr>
          <p:cNvPicPr>
            <a:picLocks noChangeAspect="1"/>
          </p:cNvPicPr>
          <p:nvPr/>
        </p:nvPicPr>
        <p:blipFill>
          <a:blip r:embed="rId2"/>
          <a:srcRect l="0" r="0" t="0" b="0"/>
          <a:stretch/>
        </p:blipFill>
        <p:spPr>
          <a:xfrm>
            <a:off x="5156200" y="3007361"/>
            <a:ext cx="304800" cy="304800"/>
          </a:xfrm>
          <a:prstGeom prst="rect">
            <a:avLst/>
          </a:prstGeom>
        </p:spPr>
      </p:pic>
      <p:sp>
        <p:nvSpPr>
          <p:cNvPr id="11" name="Text 7"/>
          <p:cNvSpPr/>
          <p:nvPr/>
        </p:nvSpPr>
        <p:spPr>
          <a:xfrm>
            <a:off x="5613400" y="3007361"/>
            <a:ext cx="59387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Failing test first</a:t>
            </a:r>
            <a:endParaRPr lang="en-US" sz="1800" dirty="0"/>
          </a:p>
        </p:txBody>
      </p:sp>
      <p:sp>
        <p:nvSpPr>
          <p:cNvPr id="12" name="Text 8"/>
          <p:cNvSpPr/>
          <p:nvPr/>
        </p:nvSpPr>
        <p:spPr>
          <a:xfrm>
            <a:off x="5613400" y="3332482"/>
            <a:ext cx="59387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For bugs: reproduce it as a test, confirm it fails, then fix the code without touching the test.</a:t>
            </a:r>
            <a:endParaRPr lang="en-US" sz="1400" dirty="0"/>
          </a:p>
        </p:txBody>
      </p:sp>
      <p:pic>
        <p:nvPicPr>
          <p:cNvPr id="13" name="Image 2" descr="Activity">    </p:cNvPr>
          <p:cNvPicPr>
            <a:picLocks noChangeAspect="1"/>
          </p:cNvPicPr>
          <p:nvPr/>
        </p:nvPicPr>
        <p:blipFill>
          <a:blip r:embed="rId3"/>
          <a:srcRect l="0" r="0" t="0" b="0"/>
          <a:stretch/>
        </p:blipFill>
        <p:spPr>
          <a:xfrm>
            <a:off x="5156200" y="4084321"/>
            <a:ext cx="304800" cy="304800"/>
          </a:xfrm>
          <a:prstGeom prst="rect">
            <a:avLst/>
          </a:prstGeom>
        </p:spPr>
      </p:pic>
      <p:sp>
        <p:nvSpPr>
          <p:cNvPr id="14" name="Text 9"/>
          <p:cNvSpPr/>
          <p:nvPr/>
        </p:nvSpPr>
        <p:spPr>
          <a:xfrm>
            <a:off x="5613400" y="4084321"/>
            <a:ext cx="59387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Continuous evals</a:t>
            </a:r>
            <a:endParaRPr lang="en-US" sz="1800" dirty="0"/>
          </a:p>
        </p:txBody>
      </p:sp>
      <p:sp>
        <p:nvSpPr>
          <p:cNvPr id="15" name="Text 10"/>
          <p:cNvSpPr/>
          <p:nvPr/>
        </p:nvSpPr>
        <p:spPr>
          <a:xfrm>
            <a:off x="5613400" y="4409439"/>
            <a:ext cx="59387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20–50 real tasks re-run whenever CLAUDE.md, skills or hooks change. The agent's config gets regression tests too.</a:t>
            </a:r>
            <a:endParaRPr lang="en-US" sz="1400" dirty="0"/>
          </a:p>
        </p:txBody>
      </p:sp>
      <p:sp>
        <p:nvSpPr>
          <p:cNvPr id="16"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07 · The AI-native SDLC</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STAGE 5 · DEPLOY</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Agents review, humans approve</a:t>
            </a:r>
            <a:endParaRPr lang="en-US" sz="3200" dirty="0"/>
          </a:p>
        </p:txBody>
      </p:sp>
      <p:sp>
        <p:nvSpPr>
          <p:cNvPr id="4" name="Shape 2"/>
          <p:cNvSpPr/>
          <p:nvPr/>
        </p:nvSpPr>
        <p:spPr>
          <a:xfrm>
            <a:off x="815975" y="1882775"/>
            <a:ext cx="5175250" cy="1634490"/>
          </a:xfrm>
          <a:prstGeom prst="roundRect">
            <a:avLst>
              <a:gd name="adj" fmla="val 7576"/>
            </a:avLst>
          </a:prstGeom>
          <a:solidFill>
            <a:srgbClr val="FFFDF8"/>
          </a:solidFill>
          <a:ln w="6350">
            <a:solidFill>
              <a:srgbClr val="E2DCCF"/>
            </a:solidFill>
            <a:prstDash val="solid"/>
          </a:ln>
        </p:spPr>
      </p:sp>
      <p:sp>
        <p:nvSpPr>
          <p:cNvPr id="5" name="Text 3"/>
          <p:cNvSpPr/>
          <p:nvPr/>
        </p:nvSpPr>
        <p:spPr>
          <a:xfrm>
            <a:off x="1071880" y="2138682"/>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AI in the PR loop</a:t>
            </a:r>
            <a:endParaRPr lang="en-US" sz="1800" dirty="0"/>
          </a:p>
        </p:txBody>
      </p:sp>
      <p:sp>
        <p:nvSpPr>
          <p:cNvPr id="6" name="Text 4"/>
          <p:cNvSpPr/>
          <p:nvPr/>
        </p:nvSpPr>
        <p:spPr>
          <a:xfrm>
            <a:off x="1071880" y="2514600"/>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Every PR gets the same passes (bugs, security, match with spec.md and plan.md), ranked by severity. Tag @claude on a comment and it pushes the fix.</a:t>
            </a:r>
            <a:endParaRPr lang="en-US" sz="1400" dirty="0"/>
          </a:p>
        </p:txBody>
      </p:sp>
      <p:sp>
        <p:nvSpPr>
          <p:cNvPr id="7" name="Shape 5"/>
          <p:cNvSpPr/>
          <p:nvPr/>
        </p:nvSpPr>
        <p:spPr>
          <a:xfrm>
            <a:off x="6200775" y="1882775"/>
            <a:ext cx="5175250" cy="1634490"/>
          </a:xfrm>
          <a:prstGeom prst="roundRect">
            <a:avLst>
              <a:gd name="adj" fmla="val 7576"/>
            </a:avLst>
          </a:prstGeom>
          <a:solidFill>
            <a:srgbClr val="FFFDF8"/>
          </a:solidFill>
          <a:ln w="6350">
            <a:solidFill>
              <a:srgbClr val="E2DCCF"/>
            </a:solidFill>
            <a:prstDash val="solid"/>
          </a:ln>
        </p:spPr>
      </p:sp>
      <p:sp>
        <p:nvSpPr>
          <p:cNvPr id="8" name="Text 6"/>
          <p:cNvSpPr/>
          <p:nvPr/>
        </p:nvSpPr>
        <p:spPr>
          <a:xfrm>
            <a:off x="6456680" y="2138682"/>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Hooks as approval gates</a:t>
            </a:r>
            <a:endParaRPr lang="en-US" sz="1800" dirty="0"/>
          </a:p>
        </p:txBody>
      </p:sp>
      <p:sp>
        <p:nvSpPr>
          <p:cNvPr id="9" name="Text 7"/>
          <p:cNvSpPr/>
          <p:nvPr/>
        </p:nvSpPr>
        <p:spPr>
          <a:xfrm>
            <a:off x="6456680" y="2514600"/>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A hook can allow, ask or block before Claude acts. Non-negotiable gates live in managed settings that engineers can't switch off.</a:t>
            </a:r>
            <a:endParaRPr lang="en-US" sz="1400" dirty="0"/>
          </a:p>
        </p:txBody>
      </p:sp>
      <p:sp>
        <p:nvSpPr>
          <p:cNvPr id="10" name="Shape 8"/>
          <p:cNvSpPr/>
          <p:nvPr/>
        </p:nvSpPr>
        <p:spPr>
          <a:xfrm>
            <a:off x="812800" y="3825239"/>
            <a:ext cx="10566400" cy="1231900"/>
          </a:xfrm>
          <a:prstGeom prst="roundRect">
            <a:avLst>
              <a:gd name="adj" fmla="val 10309"/>
            </a:avLst>
          </a:prstGeom>
          <a:solidFill>
            <a:srgbClr val="14181F"/>
          </a:solidFill>
          <a:ln/>
        </p:spPr>
      </p:sp>
      <p:sp>
        <p:nvSpPr>
          <p:cNvPr id="11" name="Text 9"/>
          <p:cNvSpPr/>
          <p:nvPr/>
        </p:nvSpPr>
        <p:spPr>
          <a:xfrm>
            <a:off x="1117600" y="4130042"/>
            <a:ext cx="10255504"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1EA"/>
                </a:solidFill>
                <a:latin typeface="Space Grotesk" pitchFamily="34" charset="0"/>
                <a:ea typeface="Space Grotesk" pitchFamily="34" charset="-122"/>
                <a:cs typeface="Space Grotesk" pitchFamily="34" charset="-120"/>
              </a:rPr>
              <a:t>The agent may act up to the production gate, and never past it.</a:t>
            </a:r>
            <a:endParaRPr lang="en-US" sz="1800" dirty="0"/>
          </a:p>
        </p:txBody>
      </p:sp>
      <p:sp>
        <p:nvSpPr>
          <p:cNvPr id="12" name="Text 10"/>
          <p:cNvSpPr/>
          <p:nvPr/>
        </p:nvSpPr>
        <p:spPr>
          <a:xfrm>
            <a:off x="1117600" y="4503421"/>
            <a:ext cx="102555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AD6"/>
                </a:solidFill>
                <a:latin typeface="Inter" pitchFamily="34" charset="0"/>
                <a:ea typeface="Inter" pitchFamily="34" charset="-122"/>
                <a:cs typeface="Inter" pitchFamily="34" charset="-120"/>
              </a:rPr>
              <a:t>Separation of duties holds: the agent that wrote the code has no way to approve it.</a:t>
            </a:r>
            <a:endParaRPr lang="en-US" sz="14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08 · The AI-native SDLC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D1C"/>
                </a:solidFill>
                <a:latin typeface="Inter" pitchFamily="34" charset="0"/>
                <a:ea typeface="Inter" pitchFamily="34" charset="-122"/>
                <a:cs typeface="Inter" pitchFamily="34" charset="-120"/>
              </a:rPr>
              <a:t>STAGE 6 · MAINTAIN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The loop closes itself</a:t>
            </a:r>
            <a:endParaRPr lang="en-US" sz="3200" dirty="0"/>
          </a:p>
        </p:txBody>
      </p:sp>
      <p:sp>
        <p:nvSpPr>
          <p:cNvPr id="4" name="Shape 2"/>
          <p:cNvSpPr/>
          <p:nvPr/>
        </p:nvSpPr>
        <p:spPr>
          <a:xfrm>
            <a:off x="815975" y="1933575"/>
            <a:ext cx="5708650" cy="933450"/>
          </a:xfrm>
          <a:prstGeom prst="roundRect">
            <a:avLst>
              <a:gd name="adj" fmla="val 13265"/>
            </a:avLst>
          </a:prstGeom>
          <a:solidFill>
            <a:srgbClr val="FFFDF8"/>
          </a:solidFill>
          <a:ln w="6350">
            <a:solidFill>
              <a:srgbClr val="E2DCCF"/>
            </a:solidFill>
            <a:prstDash val="solid"/>
          </a:ln>
        </p:spPr>
      </p:sp>
      <p:sp>
        <p:nvSpPr>
          <p:cNvPr id="5" name="Text 3"/>
          <p:cNvSpPr/>
          <p:nvPr/>
        </p:nvSpPr>
        <p:spPr>
          <a:xfrm>
            <a:off x="1046480" y="2176779"/>
            <a:ext cx="8128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A8F99"/>
                </a:solidFill>
                <a:latin typeface="Space Grotesk" pitchFamily="34" charset="0"/>
                <a:ea typeface="Space Grotesk" pitchFamily="34" charset="-122"/>
                <a:cs typeface="Space Grotesk" pitchFamily="34" charset="-120"/>
              </a:rPr>
              <a:t>1σ</a:t>
            </a:r>
            <a:endParaRPr lang="en-US" sz="3200" dirty="0"/>
          </a:p>
        </p:txBody>
      </p:sp>
      <p:sp>
        <p:nvSpPr>
          <p:cNvPr id="6" name="Text 4"/>
          <p:cNvSpPr/>
          <p:nvPr/>
        </p:nvSpPr>
        <p:spPr>
          <a:xfrm>
            <a:off x="2011680" y="2113279"/>
            <a:ext cx="4410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Log it</a:t>
            </a:r>
            <a:endParaRPr lang="en-US" sz="1800" dirty="0"/>
          </a:p>
        </p:txBody>
      </p:sp>
      <p:sp>
        <p:nvSpPr>
          <p:cNvPr id="7" name="Text 5"/>
          <p:cNvSpPr/>
          <p:nvPr/>
        </p:nvSpPr>
        <p:spPr>
          <a:xfrm>
            <a:off x="2011680" y="2438400"/>
            <a:ext cx="44109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A record, nothing more.</a:t>
            </a:r>
            <a:endParaRPr lang="en-US" sz="1400" dirty="0"/>
          </a:p>
        </p:txBody>
      </p:sp>
      <p:sp>
        <p:nvSpPr>
          <p:cNvPr id="8" name="Shape 6"/>
          <p:cNvSpPr/>
          <p:nvPr/>
        </p:nvSpPr>
        <p:spPr>
          <a:xfrm>
            <a:off x="815975" y="3025775"/>
            <a:ext cx="5708650" cy="933450"/>
          </a:xfrm>
          <a:prstGeom prst="roundRect">
            <a:avLst>
              <a:gd name="adj" fmla="val 13265"/>
            </a:avLst>
          </a:prstGeom>
          <a:solidFill>
            <a:srgbClr val="FFFDF8"/>
          </a:solidFill>
          <a:ln w="6350">
            <a:solidFill>
              <a:srgbClr val="E2DCCF"/>
            </a:solidFill>
            <a:prstDash val="solid"/>
          </a:ln>
        </p:spPr>
      </p:sp>
      <p:sp>
        <p:nvSpPr>
          <p:cNvPr id="9" name="Text 7"/>
          <p:cNvSpPr/>
          <p:nvPr/>
        </p:nvSpPr>
        <p:spPr>
          <a:xfrm>
            <a:off x="1046480" y="3268979"/>
            <a:ext cx="8128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5EA8"/>
                </a:solidFill>
                <a:latin typeface="Space Grotesk" pitchFamily="34" charset="0"/>
                <a:ea typeface="Space Grotesk" pitchFamily="34" charset="-122"/>
                <a:cs typeface="Space Grotesk" pitchFamily="34" charset="-120"/>
              </a:rPr>
              <a:t>2σ</a:t>
            </a:r>
            <a:endParaRPr lang="en-US" sz="3200" dirty="0"/>
          </a:p>
        </p:txBody>
      </p:sp>
      <p:sp>
        <p:nvSpPr>
          <p:cNvPr id="10" name="Text 8"/>
          <p:cNvSpPr/>
          <p:nvPr/>
        </p:nvSpPr>
        <p:spPr>
          <a:xfrm>
            <a:off x="2011680" y="3205479"/>
            <a:ext cx="4410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Diagnose</a:t>
            </a:r>
            <a:endParaRPr lang="en-US" sz="1800" dirty="0"/>
          </a:p>
        </p:txBody>
      </p:sp>
      <p:sp>
        <p:nvSpPr>
          <p:cNvPr id="11" name="Text 9"/>
          <p:cNvSpPr/>
          <p:nvPr/>
        </p:nvSpPr>
        <p:spPr>
          <a:xfrm>
            <a:off x="2011680" y="3530600"/>
            <a:ext cx="44109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Claude investigates with read-only tools.</a:t>
            </a:r>
            <a:endParaRPr lang="en-US" sz="1400" dirty="0"/>
          </a:p>
        </p:txBody>
      </p:sp>
      <p:sp>
        <p:nvSpPr>
          <p:cNvPr id="12" name="Shape 10"/>
          <p:cNvSpPr/>
          <p:nvPr/>
        </p:nvSpPr>
        <p:spPr>
          <a:xfrm>
            <a:off x="815975" y="4117975"/>
            <a:ext cx="5708650" cy="1182370"/>
          </a:xfrm>
          <a:prstGeom prst="roundRect">
            <a:avLst>
              <a:gd name="adj" fmla="val 10473"/>
            </a:avLst>
          </a:prstGeom>
          <a:solidFill>
            <a:srgbClr val="FFFDF8"/>
          </a:solidFill>
          <a:ln w="6350">
            <a:solidFill>
              <a:srgbClr val="E2DCCF"/>
            </a:solidFill>
            <a:prstDash val="solid"/>
          </a:ln>
        </p:spPr>
      </p:sp>
      <p:sp>
        <p:nvSpPr>
          <p:cNvPr id="13" name="Text 11"/>
          <p:cNvSpPr/>
          <p:nvPr/>
        </p:nvSpPr>
        <p:spPr>
          <a:xfrm>
            <a:off x="1046480" y="4485642"/>
            <a:ext cx="8128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4D1C"/>
                </a:solidFill>
                <a:latin typeface="Space Grotesk" pitchFamily="34" charset="0"/>
                <a:ea typeface="Space Grotesk" pitchFamily="34" charset="-122"/>
                <a:cs typeface="Space Grotesk" pitchFamily="34" charset="-120"/>
              </a:rPr>
              <a:t>3σ</a:t>
            </a:r>
            <a:endParaRPr lang="en-US" sz="3200" dirty="0"/>
          </a:p>
        </p:txBody>
      </p:sp>
      <p:sp>
        <p:nvSpPr>
          <p:cNvPr id="14" name="Text 12"/>
          <p:cNvSpPr/>
          <p:nvPr/>
        </p:nvSpPr>
        <p:spPr>
          <a:xfrm>
            <a:off x="2011680" y="4297679"/>
            <a:ext cx="4410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Propose</a:t>
            </a:r>
            <a:endParaRPr lang="en-US" sz="1800" dirty="0"/>
          </a:p>
        </p:txBody>
      </p:sp>
      <p:sp>
        <p:nvSpPr>
          <p:cNvPr id="15" name="Text 13"/>
          <p:cNvSpPr/>
          <p:nvPr/>
        </p:nvSpPr>
        <p:spPr>
          <a:xfrm>
            <a:off x="2011680" y="4622800"/>
            <a:ext cx="4410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A PR into the review gate, or a pre-approved runbook such as rollback.</a:t>
            </a:r>
            <a:endParaRPr lang="en-US" sz="1400" dirty="0"/>
          </a:p>
        </p:txBody>
      </p:sp>
      <p:sp>
        <p:nvSpPr>
          <p:cNvPr id="16" name="Text 14"/>
          <p:cNvSpPr/>
          <p:nvPr/>
        </p:nvSpPr>
        <p:spPr>
          <a:xfrm>
            <a:off x="6934200" y="1930400"/>
            <a:ext cx="4578350" cy="85407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Detection stays deterministic.</a:t>
            </a:r>
            <a:r>
              <a:rPr lang="en-US" sz="1500" dirty="0">
                <a:solidFill>
                  <a:srgbClr val="4A5260"/>
                </a:solidFill>
                <a:latin typeface="Inter" pitchFamily="34" charset="0"/>
                <a:ea typeface="Inter" pitchFamily="34" charset="-122"/>
                <a:cs typeface="Inter" pitchFamily="34" charset="-120"/>
              </a:rPr>
              <a:t> A script watches a metric against its rolling baseline; no model decides when to wake up.</a:t>
            </a:r>
            <a:endParaRPr lang="en-US" sz="1500" dirty="0"/>
          </a:p>
        </p:txBody>
      </p:sp>
      <p:sp>
        <p:nvSpPr>
          <p:cNvPr id="17" name="Text 15"/>
          <p:cNvSpPr/>
          <p:nvPr/>
        </p:nvSpPr>
        <p:spPr>
          <a:xfrm>
            <a:off x="6934200" y="2962275"/>
            <a:ext cx="457835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Findings become a new intent.md</a:t>
            </a:r>
            <a:r>
              <a:rPr lang="en-US" sz="1500" dirty="0">
                <a:solidFill>
                  <a:srgbClr val="4A5260"/>
                </a:solidFill>
                <a:latin typeface="Inter" pitchFamily="34" charset="0"/>
                <a:ea typeface="Inter" pitchFamily="34" charset="-122"/>
                <a:cs typeface="Inter" pitchFamily="34" charset="-120"/>
              </a:rPr>
              <a:t> and flow through the stages like any other idea.</a:t>
            </a:r>
            <a:endParaRPr lang="en-US" sz="1500" dirty="0"/>
          </a:p>
        </p:txBody>
      </p:sp>
      <p:sp>
        <p:nvSpPr>
          <p:cNvPr id="18" name="Text 16"/>
          <p:cNvSpPr/>
          <p:nvPr/>
        </p:nvSpPr>
        <p:spPr>
          <a:xfrm>
            <a:off x="6934200" y="3717925"/>
            <a:ext cx="457835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181F"/>
                </a:solidFill>
                <a:latin typeface="Inter" pitchFamily="34" charset="0"/>
                <a:ea typeface="Inter" pitchFamily="34" charset="-122"/>
                <a:cs typeface="Inter" pitchFamily="34" charset="-120"/>
              </a:rPr>
              <a:t>Same pattern</a:t>
            </a:r>
            <a:r>
              <a:rPr lang="en-US" sz="1500" dirty="0">
                <a:solidFill>
                  <a:srgbClr val="4A5260"/>
                </a:solidFill>
                <a:latin typeface="Inter" pitchFamily="34" charset="0"/>
                <a:ea typeface="Inter" pitchFamily="34" charset="-122"/>
                <a:cs typeface="Inter" pitchFamily="34" charset="-120"/>
              </a:rPr>
              <a:t> for scheduled security scans and incidents raised in team chat.</a:t>
            </a:r>
            <a:endParaRPr lang="en-US" sz="150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09 · The AI-native SDLC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3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61A"/>
                </a:solidFill>
                <a:latin typeface="Inter" pitchFamily="34" charset="0"/>
                <a:ea typeface="Inter" pitchFamily="34" charset="-122"/>
                <a:cs typeface="Inter" pitchFamily="34" charset="-120"/>
              </a:rPr>
              <a:t>GETTING STARTED</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81F"/>
                </a:solidFill>
                <a:latin typeface="Space Grotesk" pitchFamily="34" charset="0"/>
                <a:ea typeface="Space Grotesk" pitchFamily="34" charset="-122"/>
                <a:cs typeface="Space Grotesk" pitchFamily="34" charset="-120"/>
              </a:rPr>
              <a:t>Plays we could try first</a:t>
            </a:r>
            <a:endParaRPr lang="en-US" sz="3200" dirty="0"/>
          </a:p>
        </p:txBody>
      </p:sp>
      <p:sp>
        <p:nvSpPr>
          <p:cNvPr id="4" name="Shape 2"/>
          <p:cNvSpPr/>
          <p:nvPr/>
        </p:nvSpPr>
        <p:spPr>
          <a:xfrm>
            <a:off x="815975" y="1933575"/>
            <a:ext cx="2520950" cy="2777490"/>
          </a:xfrm>
          <a:prstGeom prst="roundRect">
            <a:avLst>
              <a:gd name="adj" fmla="val 4912"/>
            </a:avLst>
          </a:prstGeom>
          <a:solidFill>
            <a:srgbClr val="FFFDF8"/>
          </a:solidFill>
          <a:ln w="6350">
            <a:solidFill>
              <a:srgbClr val="D8CFBD"/>
            </a:solidFill>
            <a:prstDash val="solid"/>
          </a:ln>
        </p:spPr>
      </p:sp>
      <p:sp>
        <p:nvSpPr>
          <p:cNvPr id="5" name="Text 3"/>
          <p:cNvSpPr/>
          <p:nvPr/>
        </p:nvSpPr>
        <p:spPr>
          <a:xfrm>
            <a:off x="1046480" y="2164079"/>
            <a:ext cx="21217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3461A"/>
                </a:solidFill>
                <a:latin typeface="Space Grotesk" pitchFamily="34" charset="0"/>
                <a:ea typeface="Space Grotesk" pitchFamily="34" charset="-122"/>
                <a:cs typeface="Space Grotesk" pitchFamily="34" charset="-120"/>
              </a:rPr>
              <a:t>01</a:t>
            </a:r>
            <a:endParaRPr lang="en-US" sz="1800" dirty="0"/>
          </a:p>
        </p:txBody>
      </p:sp>
      <p:sp>
        <p:nvSpPr>
          <p:cNvPr id="6" name="Text 4"/>
          <p:cNvSpPr/>
          <p:nvPr/>
        </p:nvSpPr>
        <p:spPr>
          <a:xfrm>
            <a:off x="1046480" y="2585721"/>
            <a:ext cx="2121738"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A CLAUDE.md per repo</a:t>
            </a:r>
            <a:endParaRPr lang="en-US" sz="1800" dirty="0"/>
          </a:p>
        </p:txBody>
      </p:sp>
      <p:sp>
        <p:nvSpPr>
          <p:cNvPr id="7" name="Text 5"/>
          <p:cNvSpPr/>
          <p:nvPr/>
        </p:nvSpPr>
        <p:spPr>
          <a:xfrm>
            <a:off x="1046480" y="3235964"/>
            <a:ext cx="2121738"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Run /init, trim it to one page, commit it. When Claude repeats a mistake, the fix goes in.</a:t>
            </a:r>
            <a:endParaRPr lang="en-US" sz="1400" dirty="0"/>
          </a:p>
        </p:txBody>
      </p:sp>
      <p:sp>
        <p:nvSpPr>
          <p:cNvPr id="8" name="Shape 6"/>
          <p:cNvSpPr/>
          <p:nvPr/>
        </p:nvSpPr>
        <p:spPr>
          <a:xfrm>
            <a:off x="3495675" y="1933575"/>
            <a:ext cx="2520950" cy="2777490"/>
          </a:xfrm>
          <a:prstGeom prst="roundRect">
            <a:avLst>
              <a:gd name="adj" fmla="val 4912"/>
            </a:avLst>
          </a:prstGeom>
          <a:solidFill>
            <a:srgbClr val="FFFDF8"/>
          </a:solidFill>
          <a:ln w="6350">
            <a:solidFill>
              <a:srgbClr val="D8CFBD"/>
            </a:solidFill>
            <a:prstDash val="solid"/>
          </a:ln>
        </p:spPr>
      </p:sp>
      <p:sp>
        <p:nvSpPr>
          <p:cNvPr id="9" name="Text 7"/>
          <p:cNvSpPr/>
          <p:nvPr/>
        </p:nvSpPr>
        <p:spPr>
          <a:xfrm>
            <a:off x="3726180" y="2164079"/>
            <a:ext cx="21217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3461A"/>
                </a:solidFill>
                <a:latin typeface="Space Grotesk" pitchFamily="34" charset="0"/>
                <a:ea typeface="Space Grotesk" pitchFamily="34" charset="-122"/>
                <a:cs typeface="Space Grotesk" pitchFamily="34" charset="-120"/>
              </a:rPr>
              <a:t>02</a:t>
            </a:r>
            <a:endParaRPr lang="en-US" sz="1800" dirty="0"/>
          </a:p>
        </p:txBody>
      </p:sp>
      <p:sp>
        <p:nvSpPr>
          <p:cNvPr id="10" name="Text 8"/>
          <p:cNvSpPr/>
          <p:nvPr/>
        </p:nvSpPr>
        <p:spPr>
          <a:xfrm>
            <a:off x="3726180" y="2585721"/>
            <a:ext cx="2121738"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One-command checks</a:t>
            </a:r>
            <a:endParaRPr lang="en-US" sz="1800" dirty="0"/>
          </a:p>
        </p:txBody>
      </p:sp>
      <p:sp>
        <p:nvSpPr>
          <p:cNvPr id="11" name="Text 9"/>
          <p:cNvSpPr/>
          <p:nvPr/>
        </p:nvSpPr>
        <p:spPr>
          <a:xfrm>
            <a:off x="3726180" y="3235964"/>
            <a:ext cx="2121738"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Build and test that Claude can run itself, e.g. dotnet build and dotnet test, listed in CLAUDE.md.</a:t>
            </a:r>
            <a:endParaRPr lang="en-US" sz="1400" dirty="0"/>
          </a:p>
        </p:txBody>
      </p:sp>
      <p:sp>
        <p:nvSpPr>
          <p:cNvPr id="12" name="Shape 10"/>
          <p:cNvSpPr/>
          <p:nvPr/>
        </p:nvSpPr>
        <p:spPr>
          <a:xfrm>
            <a:off x="6175375" y="1933575"/>
            <a:ext cx="2520950" cy="2777490"/>
          </a:xfrm>
          <a:prstGeom prst="roundRect">
            <a:avLst>
              <a:gd name="adj" fmla="val 4912"/>
            </a:avLst>
          </a:prstGeom>
          <a:solidFill>
            <a:srgbClr val="FFFDF8"/>
          </a:solidFill>
          <a:ln w="6350">
            <a:solidFill>
              <a:srgbClr val="D8CFBD"/>
            </a:solidFill>
            <a:prstDash val="solid"/>
          </a:ln>
        </p:spPr>
      </p:sp>
      <p:sp>
        <p:nvSpPr>
          <p:cNvPr id="13" name="Text 11"/>
          <p:cNvSpPr/>
          <p:nvPr/>
        </p:nvSpPr>
        <p:spPr>
          <a:xfrm>
            <a:off x="6405880" y="2164079"/>
            <a:ext cx="21217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3461A"/>
                </a:solidFill>
                <a:latin typeface="Space Grotesk" pitchFamily="34" charset="0"/>
                <a:ea typeface="Space Grotesk" pitchFamily="34" charset="-122"/>
                <a:cs typeface="Space Grotesk" pitchFamily="34" charset="-120"/>
              </a:rPr>
              <a:t>03</a:t>
            </a:r>
            <a:endParaRPr lang="en-US" sz="1800" dirty="0"/>
          </a:p>
        </p:txBody>
      </p:sp>
      <p:sp>
        <p:nvSpPr>
          <p:cNvPr id="14" name="Text 12"/>
          <p:cNvSpPr/>
          <p:nvPr/>
        </p:nvSpPr>
        <p:spPr>
          <a:xfrm>
            <a:off x="6405880" y="2585721"/>
            <a:ext cx="2121738"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Plan mode by default</a:t>
            </a:r>
            <a:endParaRPr lang="en-US" sz="1800" dirty="0"/>
          </a:p>
        </p:txBody>
      </p:sp>
      <p:sp>
        <p:nvSpPr>
          <p:cNvPr id="15" name="Text 13"/>
          <p:cNvSpPr/>
          <p:nvPr/>
        </p:nvSpPr>
        <p:spPr>
          <a:xfrm>
            <a:off x="6405880" y="3235964"/>
            <a:ext cx="212173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A reviewed plan.md before code for anything non-trivial.</a:t>
            </a:r>
            <a:endParaRPr lang="en-US" sz="1400" dirty="0"/>
          </a:p>
        </p:txBody>
      </p:sp>
      <p:sp>
        <p:nvSpPr>
          <p:cNvPr id="16" name="Shape 14"/>
          <p:cNvSpPr/>
          <p:nvPr/>
        </p:nvSpPr>
        <p:spPr>
          <a:xfrm>
            <a:off x="8855075" y="1933575"/>
            <a:ext cx="2520950" cy="2777490"/>
          </a:xfrm>
          <a:prstGeom prst="roundRect">
            <a:avLst>
              <a:gd name="adj" fmla="val 4912"/>
            </a:avLst>
          </a:prstGeom>
          <a:solidFill>
            <a:srgbClr val="FFFDF8"/>
          </a:solidFill>
          <a:ln w="6350">
            <a:solidFill>
              <a:srgbClr val="D8CFBD"/>
            </a:solidFill>
            <a:prstDash val="solid"/>
          </a:ln>
        </p:spPr>
      </p:sp>
      <p:sp>
        <p:nvSpPr>
          <p:cNvPr id="17" name="Text 15"/>
          <p:cNvSpPr/>
          <p:nvPr/>
        </p:nvSpPr>
        <p:spPr>
          <a:xfrm>
            <a:off x="9085580" y="2164079"/>
            <a:ext cx="21217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3461A"/>
                </a:solidFill>
                <a:latin typeface="Space Grotesk" pitchFamily="34" charset="0"/>
                <a:ea typeface="Space Grotesk" pitchFamily="34" charset="-122"/>
                <a:cs typeface="Space Grotesk" pitchFamily="34" charset="-120"/>
              </a:rPr>
              <a:t>04</a:t>
            </a:r>
            <a:endParaRPr lang="en-US" sz="1800" dirty="0"/>
          </a:p>
        </p:txBody>
      </p:sp>
      <p:sp>
        <p:nvSpPr>
          <p:cNvPr id="18" name="Text 16"/>
          <p:cNvSpPr/>
          <p:nvPr/>
        </p:nvSpPr>
        <p:spPr>
          <a:xfrm>
            <a:off x="9085580" y="2585721"/>
            <a:ext cx="2287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One skill, one hook</a:t>
            </a:r>
            <a:endParaRPr lang="en-US" sz="1800" dirty="0"/>
          </a:p>
        </p:txBody>
      </p:sp>
      <p:sp>
        <p:nvSpPr>
          <p:cNvPr id="19" name="Text 17"/>
          <p:cNvSpPr/>
          <p:nvPr/>
        </p:nvSpPr>
        <p:spPr>
          <a:xfrm>
            <a:off x="9085580" y="2961642"/>
            <a:ext cx="2121738"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nter" pitchFamily="34" charset="0"/>
                <a:ea typeface="Inter" pitchFamily="34" charset="-122"/>
                <a:cs typeface="Inter" pitchFamily="34" charset="-120"/>
              </a:rPr>
              <a:t>Encode one convention we enforce inconsistently, and back the must-haves with a hook.</a:t>
            </a:r>
            <a:endParaRPr lang="en-US" sz="1400" dirty="0"/>
          </a:p>
        </p:txBody>
      </p:sp>
      <p:sp>
        <p:nvSpPr>
          <p:cNvPr id="20" name="Text 18"/>
          <p:cNvSpPr/>
          <p:nvPr/>
        </p:nvSpPr>
        <p:spPr>
          <a:xfrm>
            <a:off x="812800" y="5069842"/>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181F"/>
                </a:solidFill>
                <a:latin typeface="Inter" pitchFamily="34" charset="0"/>
                <a:ea typeface="Inter" pitchFamily="34" charset="-122"/>
                <a:cs typeface="Inter" pitchFamily="34" charset="-120"/>
              </a:rPr>
              <a:t>None of these depends on anything else being in place first. Small, cheap, and they make every later play easier.</a:t>
            </a:r>
            <a:endParaRPr lang="en-US" sz="15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2"/>
                </a:solidFill>
                <a:latin typeface="Inter" pitchFamily="34" charset="0"/>
                <a:ea typeface="Inter" pitchFamily="34" charset="-122"/>
                <a:cs typeface="Inter" pitchFamily="34" charset="-120"/>
              </a:rPr>
              <a:t>10 · The AI-native SDLC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nter" pitchFamily="34" charset="0"/>
                <a:ea typeface="Inter" pitchFamily="34" charset="-122"/>
                <a:cs typeface="Inter" pitchFamily="34" charset="-120"/>
              </a:rPr>
              <a:t>FOR THE RETREAT</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Space Grotesk" pitchFamily="34" charset="0"/>
                <a:ea typeface="Space Grotesk" pitchFamily="34" charset="-122"/>
                <a:cs typeface="Space Grotesk" pitchFamily="34" charset="-120"/>
              </a:rPr>
              <a:t>Questions to bring</a:t>
            </a:r>
            <a:endParaRPr lang="en-US" sz="3200" dirty="0"/>
          </a:p>
        </p:txBody>
      </p:sp>
      <p:sp>
        <p:nvSpPr>
          <p:cNvPr id="4" name="Text 2"/>
          <p:cNvSpPr/>
          <p:nvPr/>
        </p:nvSpPr>
        <p:spPr>
          <a:xfrm>
            <a:off x="812800" y="1930400"/>
            <a:ext cx="558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8A4B"/>
                </a:solidFill>
                <a:latin typeface="Space Grotesk" pitchFamily="34" charset="0"/>
                <a:ea typeface="Space Grotesk" pitchFamily="34" charset="-122"/>
                <a:cs typeface="Space Grotesk" pitchFamily="34" charset="-120"/>
              </a:rPr>
              <a:t>01</a:t>
            </a:r>
            <a:endParaRPr lang="en-US" sz="1800" dirty="0"/>
          </a:p>
        </p:txBody>
      </p:sp>
      <p:sp>
        <p:nvSpPr>
          <p:cNvPr id="5" name="Text 3"/>
          <p:cNvSpPr/>
          <p:nvPr/>
        </p:nvSpPr>
        <p:spPr>
          <a:xfrm>
            <a:off x="1524000" y="1945642"/>
            <a:ext cx="10150856"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4F1EA"/>
                </a:solidFill>
                <a:latin typeface="Space Grotesk" pitchFamily="34" charset="0"/>
                <a:ea typeface="Space Grotesk" pitchFamily="34" charset="-122"/>
                <a:cs typeface="Space Grotesk" pitchFamily="34" charset="-120"/>
              </a:rPr>
              <a:t>Which stage is our real bottleneck today?</a:t>
            </a:r>
            <a:endParaRPr lang="en-US" sz="1800" dirty="0"/>
          </a:p>
        </p:txBody>
      </p:sp>
      <p:sp>
        <p:nvSpPr>
          <p:cNvPr id="6" name="Text 4"/>
          <p:cNvSpPr/>
          <p:nvPr/>
        </p:nvSpPr>
        <p:spPr>
          <a:xfrm>
            <a:off x="812800" y="2453642"/>
            <a:ext cx="558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8A4B"/>
                </a:solidFill>
                <a:latin typeface="Space Grotesk" pitchFamily="34" charset="0"/>
                <a:ea typeface="Space Grotesk" pitchFamily="34" charset="-122"/>
                <a:cs typeface="Space Grotesk" pitchFamily="34" charset="-120"/>
              </a:rPr>
              <a:t>02</a:t>
            </a:r>
            <a:endParaRPr lang="en-US" sz="1800" dirty="0"/>
          </a:p>
        </p:txBody>
      </p:sp>
      <p:sp>
        <p:nvSpPr>
          <p:cNvPr id="7" name="Text 5"/>
          <p:cNvSpPr/>
          <p:nvPr/>
        </p:nvSpPr>
        <p:spPr>
          <a:xfrm>
            <a:off x="1524000" y="2468879"/>
            <a:ext cx="10150856"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4F1EA"/>
                </a:solidFill>
                <a:latin typeface="Space Grotesk" pitchFamily="34" charset="0"/>
                <a:ea typeface="Space Grotesk" pitchFamily="34" charset="-122"/>
                <a:cs typeface="Space Grotesk" pitchFamily="34" charset="-120"/>
              </a:rPr>
              <a:t>What would go into our first CLAUDE.md?</a:t>
            </a:r>
            <a:endParaRPr lang="en-US" sz="1800" dirty="0"/>
          </a:p>
        </p:txBody>
      </p:sp>
      <p:sp>
        <p:nvSpPr>
          <p:cNvPr id="8" name="Text 6"/>
          <p:cNvSpPr/>
          <p:nvPr/>
        </p:nvSpPr>
        <p:spPr>
          <a:xfrm>
            <a:off x="812800" y="2976879"/>
            <a:ext cx="5588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8A4B"/>
                </a:solidFill>
                <a:latin typeface="Space Grotesk" pitchFamily="34" charset="0"/>
                <a:ea typeface="Space Grotesk" pitchFamily="34" charset="-122"/>
                <a:cs typeface="Space Grotesk" pitchFamily="34" charset="-120"/>
              </a:rPr>
              <a:t>03</a:t>
            </a:r>
            <a:endParaRPr lang="en-US" sz="1800" dirty="0"/>
          </a:p>
        </p:txBody>
      </p:sp>
      <p:sp>
        <p:nvSpPr>
          <p:cNvPr id="9" name="Text 7"/>
          <p:cNvSpPr/>
          <p:nvPr/>
        </p:nvSpPr>
        <p:spPr>
          <a:xfrm>
            <a:off x="1524000" y="2992121"/>
            <a:ext cx="10150856"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4F1EA"/>
                </a:solidFill>
                <a:latin typeface="Space Grotesk" pitchFamily="34" charset="0"/>
                <a:ea typeface="Space Grotesk" pitchFamily="34" charset="-122"/>
                <a:cs typeface="Space Grotesk" pitchFamily="34" charset="-120"/>
              </a:rPr>
              <a:t>Which controls must stay human, and which could become hooks?</a:t>
            </a:r>
            <a:endParaRPr lang="en-US" sz="1800" dirty="0"/>
          </a:p>
        </p:txBody>
      </p:sp>
      <p:sp>
        <p:nvSpPr>
          <p:cNvPr id="10" name="Text 8"/>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C3CAD6"/>
                </a:solidFill>
                <a:latin typeface="Inter" pitchFamily="34" charset="0"/>
                <a:ea typeface="Inter" pitchFamily="34" charset="-122"/>
                <a:cs typeface="Inter" pitchFamily="34" charset="-120"/>
              </a:rPr>
              <a:t>"The loop keeps running. Human judgement stays above it." — from the playbook</a:t>
            </a:r>
            <a:endParaRPr lang="en-US" sz="15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AFBD"/>
                </a:solidFill>
                <a:latin typeface="Inter" pitchFamily="34" charset="0"/>
                <a:ea typeface="Inter" pitchFamily="34" charset="-122"/>
                <a:cs typeface="Inter" pitchFamily="34" charset="-120"/>
              </a:rPr>
              <a:t>Full playbook (about 40 min): </a:t>
            </a:r>
            <a:r>
              <a:rPr lang="en-US" sz="1200" u="sng" dirty="0">
                <a:solidFill>
                  <a:srgbClr val="A7AFBD"/>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claude.com/resources/articles/the-ai-native-sdlc-playbook</a:t>
            </a:r>
            <a:endParaRPr lang="en-US" sz="1200" dirty="0"/>
          </a:p>
        </p:txBody>
      </p:sp>
    </p:spTree>
  </p:cSld>
  <p:clrMapOvr>
    <a:masterClrMapping/>
  </p:clrMapOvr>
</p:sld>
</file>

<file path=ppt/theme/theme1.xml><?xml version="1.0" encoding="utf-8"?>
<a:theme xmlns:a="http://schemas.openxmlformats.org/drawingml/2006/main" name="The AI-Native SDLC — a 10-minute intro">
  <a:themeElements>
    <a:clrScheme name="The AI-Native SDLC — a 10-minute intro">
      <a:dk1>
        <a:srgbClr val="14181F"/>
      </a:dk1>
      <a:lt1>
        <a:srgbClr val="F4F1EA"/>
      </a:lt1>
      <a:dk2>
        <a:srgbClr val="4C4E52"/>
      </a:dk2>
      <a:lt2>
        <a:srgbClr val="DEDBD6"/>
      </a:lt2>
      <a:accent1>
        <a:srgbClr val="B44D1C"/>
      </a:accent1>
      <a:accent2>
        <a:srgbClr val="2F5EA8"/>
      </a:accent2>
      <a:accent3>
        <a:srgbClr val="A3461A"/>
      </a:accent3>
      <a:accent4>
        <a:srgbClr val="F08A4B"/>
      </a:accent4>
      <a:accent5>
        <a:srgbClr val="4A5260"/>
      </a:accent5>
      <a:accent6>
        <a:srgbClr val="6B7280"/>
      </a:accent6>
      <a:hlink>
        <a:srgbClr val="0563C1"/>
      </a:hlink>
      <a:folHlink>
        <a:srgbClr val="954F72"/>
      </a:folHlink>
    </a:clrScheme>
    <a:fontScheme name="The AI-Native SDLC — a 10-minute intro">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SDLC — a 10-minute intro</dc:title>
  <dc:subject/>
  <dc:creator/>
  <cp:lastModifiedBy/>
  <cp:revision>1</cp:revision>
  <dcterms:created xsi:type="dcterms:W3CDTF">2026-10-12T21:15:22Z</dcterms:created>
  <dcterms:modified xsi:type="dcterms:W3CDTF">2026-10-12T21:15:22Z</dcterms:modified>
</cp:coreProperties>
</file>