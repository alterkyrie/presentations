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is a map, not a sales pitch: we'll walk through the main ways teams work with AI coding agents, how they differ, and how they fit together. At the end we'll discuss which ones make sense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behind every methodology in this talk. Writing code used to be the bottleneck. With agents, the bottleneck moves upstream (expressing intent clearly) and downstream (verifying the result). Each methodology is basically a different answer to two questions: how much intent do you write down before code exists, and how do you check the agent's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competing religions. They sit along one axis: how much of your intent is written down before code exists. On the left, intent lives in the chat and disappears with it. On the right, intent lives in versioned files the whole team can review. Context engineering and evals are foundations that make every approach work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Vibe coding: term coined by Andrej Karpathy in February 2025. Great for exploring an idea in an afternoon, risky for production code. AI pair programming is how most of us started with Copilot-style tools: chat-driven, small steps, the human reviews everything. Neither leaves a durable record of intent; it lives in the chat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called Research-Plan-Implement. The key move is separating thinking from typing: the agent must understand the code and propose an approach before touching anything. Reviewing a plan is far cheaper than reviewing a wrong 500-line diff. Good default for medium-sized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are the most precise spec there is, because they execute. The important rule for agentic TDD: the agent may not modify the tests to make them pass. BDD predates AI agents but has seen renewed interest because scenarios are readable by product people, developers, and agents alike.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modern wave of SDD is mostly credited to GitHub Spec Kit, open-sourced in September 2025. In conventional projects the code ends up being the source of truth and documents go stale. SDD flips that: specs are versioned, reviewed, and authoritative. The main risk is spec maintenance overhead and specs quietly drifting from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SDLC describes the stages all software goes through. Methodologies describe how you move through them. SDD is not a Waterfall revival: in practice each feature gets its own small specify-plan-tasks-implement cycle, which fits iterative and Agile work. A familiar small-scale example: OpenAPI contract first, then generate C# clients and server stubs.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engineering is a discipline rather than a process. It is the cheapest win available: a well-written instruction file in the repo improves every interaction, whatever methodology you use. Eval-driven development applies when we build features that use LLMs ourselves, not when we use agents to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push autonomy further and both depend heavily on good specs and strong automated checks. The informal Ralph technique, running the same prompt in a loop, is a well-known example of the autonomous style. Without solid verification these approaches drift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top to bottom as a gradient: more intent written down, more automated verification, more agent autonomy. The right row depends on the task, not on team ideology.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realistic setup mixes methods by task size. The foundation and the verification layer are shared; only the top layer changes. Starting point suggestion: add instruction files to our repos first, since that pays off whatever we choose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Possible follow-up: pick one upcoming feature and try it with a spec-driven flow as an experiment, then compare with how we would normally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1E2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B1E23"/>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B1E2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81"/>
            <a:ext cx="10566400" cy="4109719"/>
          </a:xfrm>
          <a:prstGeom prst="rect">
            <a:avLst/>
          </a:prstGeom>
          <a:noFill/>
          <a:ln/>
        </p:spPr>
        <p:txBody>
          <a:bodyPr wrap="square" lIns="0" tIns="0" rIns="0" bIns="0" rtlCol="0" anchor="t"/>
          <a:lstStyle>
            <a:lvl1pPr algn="l" indent="0" marL="0">
              <a:lnSpc>
                <a:spcPct val="140000"/>
              </a:lnSpc>
              <a:buNone/>
              <a:defRPr lang="en-US" sz="1600" dirty="0">
                <a:solidFill>
                  <a:srgbClr val="1B1E23"/>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D"/>
        </a:solidFill>
      </p:bgPr>
    </p:bg>
    <p:spTree>
      <p:nvGrpSpPr>
        <p:cNvPr id="1" name=""/>
        <p:cNvGrpSpPr/>
        <p:nvPr/>
      </p:nvGrpSpPr>
      <p:grpSpPr>
        <a:xfrm>
          <a:off x="0" y="0"/>
          <a:ext cx="0" cy="0"/>
          <a:chOff x="0" y="0"/>
          <a:chExt cx="0" cy="0"/>
        </a:xfrm>
      </p:grpSpPr>
      <p:sp>
        <p:nvSpPr>
          <p:cNvPr id="2" name="Shape 0"/>
          <p:cNvSpPr/>
          <p:nvPr/>
        </p:nvSpPr>
        <p:spPr>
          <a:xfrm>
            <a:off x="812800" y="812800"/>
            <a:ext cx="1016000" cy="76200"/>
          </a:xfrm>
          <a:prstGeom prst="roundRect">
            <a:avLst>
              <a:gd name="adj" fmla="val 50000"/>
            </a:avLst>
          </a:prstGeom>
          <a:solidFill>
            <a:srgbClr val="E8875A"/>
          </a:solidFill>
          <a:ln/>
        </p:spPr>
      </p:sp>
      <p:sp>
        <p:nvSpPr>
          <p:cNvPr id="3" name="Text 1"/>
          <p:cNvSpPr/>
          <p:nvPr>
            <p:ph type="title"/>
          </p:nvPr>
        </p:nvSpPr>
        <p:spPr>
          <a:xfrm>
            <a:off x="812800" y="3749040"/>
            <a:ext cx="9810750" cy="878840"/>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F4F1EA"/>
                </a:solidFill>
                <a:latin typeface="Space Grotesk" pitchFamily="34" charset="0"/>
                <a:ea typeface="Space Grotesk" pitchFamily="34" charset="-122"/>
                <a:cs typeface="Space Grotesk" pitchFamily="34" charset="-120"/>
              </a:rPr>
              <a:t>Working with AI agents</a:t>
            </a:r>
            <a:endParaRPr lang="en-US" sz="6400" dirty="0"/>
          </a:p>
        </p:txBody>
      </p:sp>
      <p:sp>
        <p:nvSpPr>
          <p:cNvPr id="4" name="Text 2"/>
          <p:cNvSpPr/>
          <p:nvPr/>
        </p:nvSpPr>
        <p:spPr>
          <a:xfrm>
            <a:off x="812800" y="485648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C7CC"/>
                </a:solidFill>
                <a:latin typeface="Inter" pitchFamily="34" charset="0"/>
                <a:ea typeface="Inter" pitchFamily="34" charset="-122"/>
                <a:cs typeface="Inter" pitchFamily="34" charset="-120"/>
              </a:rPr>
              <a:t>A map of development methodologies, from vibe coding to spec-driven development</a:t>
            </a:r>
            <a:endParaRPr lang="en-US" sz="2000" dirty="0"/>
          </a:p>
        </p:txBody>
      </p:sp>
      <p:sp>
        <p:nvSpPr>
          <p:cNvPr id="5" name="Text 3"/>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9EA5"/>
                </a:solidFill>
                <a:latin typeface="Inter" pitchFamily="34" charset="0"/>
                <a:ea typeface="Inter" pitchFamily="34" charset="-122"/>
                <a:cs typeface="Inter" pitchFamily="34" charset="-120"/>
              </a:rPr>
              <a:t>Anatolii Pastushuk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8461F"/>
        </a:solidFill>
      </p:bgPr>
    </p:bg>
    <p:spTree>
      <p:nvGrpSpPr>
        <p:cNvPr id="1" name=""/>
        <p:cNvGrpSpPr/>
        <p:nvPr/>
      </p:nvGrpSpPr>
      <p:grpSpPr>
        <a:xfrm>
          <a:off x="0" y="0"/>
          <a:ext cx="0" cy="0"/>
          <a:chOff x="0" y="0"/>
          <a:chExt cx="0" cy="0"/>
        </a:xfrm>
      </p:grpSpPr>
      <p:sp>
        <p:nvSpPr>
          <p:cNvPr id="2" name="Text 0"/>
          <p:cNvSpPr/>
          <p:nvPr/>
        </p:nvSpPr>
        <p:spPr>
          <a:xfrm>
            <a:off x="812800" y="223012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8E2D2"/>
                </a:solidFill>
                <a:latin typeface="Inter" pitchFamily="34" charset="0"/>
                <a:ea typeface="Inter" pitchFamily="34" charset="-122"/>
                <a:cs typeface="Inter" pitchFamily="34" charset="-120"/>
              </a:rPr>
              <a:t>WHY THIS MATTERS</a:t>
            </a:r>
            <a:endParaRPr lang="en-US" sz="1400" dirty="0"/>
          </a:p>
        </p:txBody>
      </p:sp>
      <p:sp>
        <p:nvSpPr>
          <p:cNvPr id="3" name="Text 1"/>
          <p:cNvSpPr/>
          <p:nvPr>
            <p:ph type="title"/>
          </p:nvPr>
        </p:nvSpPr>
        <p:spPr>
          <a:xfrm>
            <a:off x="812800" y="2783840"/>
            <a:ext cx="10464800" cy="186944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8EFE6"/>
                </a:solidFill>
                <a:latin typeface="Space Grotesk" pitchFamily="34" charset="0"/>
                <a:ea typeface="Space Grotesk" pitchFamily="34" charset="-122"/>
                <a:cs typeface="Space Grotesk" pitchFamily="34" charset="-120"/>
              </a:rPr>
              <a:t>When an agent can write the code, the hard part becomes telling it what to build, and checking that it did.</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61F"/>
                </a:solidFill>
                <a:latin typeface="Inter" pitchFamily="34" charset="0"/>
                <a:ea typeface="Inter" pitchFamily="34" charset="-122"/>
                <a:cs typeface="Inter" pitchFamily="34" charset="-120"/>
              </a:rPr>
              <a:t>THE LANDSCAPE</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E23"/>
                </a:solidFill>
                <a:latin typeface="Space Grotesk" pitchFamily="34" charset="0"/>
                <a:ea typeface="Space Grotesk" pitchFamily="34" charset="-122"/>
                <a:cs typeface="Space Grotesk" pitchFamily="34" charset="-120"/>
              </a:rPr>
              <a:t>A spectrum, not a menu</a:t>
            </a:r>
            <a:endParaRPr lang="en-US" sz="3600" dirty="0"/>
          </a:p>
        </p:txBody>
      </p:sp>
      <p:sp>
        <p:nvSpPr>
          <p:cNvPr id="4" name="Shape 2"/>
          <p:cNvSpPr/>
          <p:nvPr/>
        </p:nvSpPr>
        <p:spPr>
          <a:xfrm>
            <a:off x="812800" y="2331720"/>
            <a:ext cx="10566400" cy="0"/>
          </a:xfrm>
          <a:prstGeom prst="line">
            <a:avLst/>
          </a:prstGeom>
          <a:noFill/>
          <a:ln w="25400">
            <a:solidFill>
              <a:srgbClr val="A8461F"/>
            </a:solidFill>
            <a:prstDash val="solid"/>
          </a:ln>
        </p:spPr>
      </p:sp>
      <p:sp>
        <p:nvSpPr>
          <p:cNvPr id="5" name="Text 3"/>
          <p:cNvSpPr/>
          <p:nvPr/>
        </p:nvSpPr>
        <p:spPr>
          <a:xfrm>
            <a:off x="812800" y="1986280"/>
            <a:ext cx="211331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75C64"/>
                </a:solidFill>
                <a:latin typeface="Inter" pitchFamily="34" charset="0"/>
                <a:ea typeface="Inter" pitchFamily="34" charset="-122"/>
                <a:cs typeface="Inter" pitchFamily="34" charset="-120"/>
              </a:rPr>
              <a:t>Intent lives in the chat</a:t>
            </a:r>
            <a:endParaRPr lang="en-US" sz="1300" dirty="0"/>
          </a:p>
        </p:txBody>
      </p:sp>
      <p:sp>
        <p:nvSpPr>
          <p:cNvPr id="6" name="Text 4"/>
          <p:cNvSpPr/>
          <p:nvPr/>
        </p:nvSpPr>
        <p:spPr>
          <a:xfrm>
            <a:off x="4652486" y="1986280"/>
            <a:ext cx="385076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61F"/>
                </a:solidFill>
                <a:latin typeface="Inter" pitchFamily="34" charset="0"/>
                <a:ea typeface="Inter" pitchFamily="34" charset="-122"/>
                <a:cs typeface="Inter" pitchFamily="34" charset="-120"/>
              </a:rPr>
              <a:t>More intent written down before code →</a:t>
            </a:r>
            <a:endParaRPr lang="en-US" sz="1300" dirty="0"/>
          </a:p>
        </p:txBody>
      </p:sp>
      <p:sp>
        <p:nvSpPr>
          <p:cNvPr id="7" name="Text 5"/>
          <p:cNvSpPr/>
          <p:nvPr/>
        </p:nvSpPr>
        <p:spPr>
          <a:xfrm>
            <a:off x="9652223" y="1986280"/>
            <a:ext cx="1726978"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575C64"/>
                </a:solidFill>
                <a:latin typeface="Inter" pitchFamily="34" charset="0"/>
                <a:ea typeface="Inter" pitchFamily="34" charset="-122"/>
                <a:cs typeface="Inter" pitchFamily="34" charset="-120"/>
              </a:rPr>
              <a:t>Intent lives in files</a:t>
            </a:r>
            <a:endParaRPr lang="en-US" sz="1300" dirty="0"/>
          </a:p>
        </p:txBody>
      </p:sp>
      <p:sp>
        <p:nvSpPr>
          <p:cNvPr id="8" name="Shape 6"/>
          <p:cNvSpPr/>
          <p:nvPr/>
        </p:nvSpPr>
        <p:spPr>
          <a:xfrm>
            <a:off x="815975" y="2525395"/>
            <a:ext cx="3380264" cy="1902460"/>
          </a:xfrm>
          <a:prstGeom prst="roundRect">
            <a:avLst>
              <a:gd name="adj" fmla="val 6509"/>
            </a:avLst>
          </a:prstGeom>
          <a:solidFill>
            <a:srgbClr val="FBF9F5"/>
          </a:solidFill>
          <a:ln w="6350">
            <a:solidFill>
              <a:srgbClr val="DDD6C8"/>
            </a:solidFill>
            <a:prstDash val="solid"/>
          </a:ln>
        </p:spPr>
      </p:sp>
      <p:sp>
        <p:nvSpPr>
          <p:cNvPr id="9" name="Text 7"/>
          <p:cNvSpPr/>
          <p:nvPr/>
        </p:nvSpPr>
        <p:spPr>
          <a:xfrm>
            <a:off x="1122680" y="2832100"/>
            <a:ext cx="284985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Conversational</a:t>
            </a:r>
            <a:endParaRPr lang="en-US" sz="2000" dirty="0"/>
          </a:p>
        </p:txBody>
      </p:sp>
      <p:sp>
        <p:nvSpPr>
          <p:cNvPr id="10" name="Text 8"/>
          <p:cNvSpPr/>
          <p:nvPr/>
        </p:nvSpPr>
        <p:spPr>
          <a:xfrm>
            <a:off x="1122680" y="3263900"/>
            <a:ext cx="2849859"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1E23"/>
                </a:solidFill>
                <a:latin typeface="Inter" pitchFamily="34" charset="0"/>
                <a:ea typeface="Inter" pitchFamily="34" charset="-122"/>
                <a:cs typeface="Inter" pitchFamily="34" charset="-120"/>
              </a:rPr>
              <a:t>Vibe coding</a:t>
            </a:r>
            <a:endParaRPr lang="en-US" sz="1500" dirty="0"/>
          </a:p>
          <a:p>
            <a:pPr algn="l" indent="0" marL="0">
              <a:lnSpc>
                <a:spcPts val="2250"/>
              </a:lnSpc>
              <a:buNone/>
            </a:pPr>
            <a:r>
              <a:rPr lang="en-US" sz="1500" dirty="0">
                <a:solidFill>
                  <a:srgbClr val="1B1E23"/>
                </a:solidFill>
                <a:latin typeface="Inter" pitchFamily="34" charset="0"/>
                <a:ea typeface="Inter" pitchFamily="34" charset="-122"/>
                <a:cs typeface="Inter" pitchFamily="34" charset="-120"/>
              </a:rPr>
              <a:t>AI pair programming</a:t>
            </a:r>
            <a:endParaRPr lang="en-US" sz="1500" dirty="0"/>
          </a:p>
        </p:txBody>
      </p:sp>
      <p:sp>
        <p:nvSpPr>
          <p:cNvPr id="11" name="Shape 9"/>
          <p:cNvSpPr/>
          <p:nvPr/>
        </p:nvSpPr>
        <p:spPr>
          <a:xfrm>
            <a:off x="4405789" y="2525395"/>
            <a:ext cx="3380343" cy="1902460"/>
          </a:xfrm>
          <a:prstGeom prst="roundRect">
            <a:avLst>
              <a:gd name="adj" fmla="val 6509"/>
            </a:avLst>
          </a:prstGeom>
          <a:solidFill>
            <a:srgbClr val="FBF9F5"/>
          </a:solidFill>
          <a:ln w="6350">
            <a:solidFill>
              <a:srgbClr val="DDD6C8"/>
            </a:solidFill>
            <a:prstDash val="solid"/>
          </a:ln>
        </p:spPr>
      </p:sp>
      <p:sp>
        <p:nvSpPr>
          <p:cNvPr id="12" name="Text 10"/>
          <p:cNvSpPr/>
          <p:nvPr/>
        </p:nvSpPr>
        <p:spPr>
          <a:xfrm>
            <a:off x="4712494" y="2832100"/>
            <a:ext cx="2849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Plan- and test-first</a:t>
            </a:r>
            <a:endParaRPr lang="en-US" sz="2000" dirty="0"/>
          </a:p>
        </p:txBody>
      </p:sp>
      <p:sp>
        <p:nvSpPr>
          <p:cNvPr id="13" name="Text 11"/>
          <p:cNvSpPr/>
          <p:nvPr/>
        </p:nvSpPr>
        <p:spPr>
          <a:xfrm>
            <a:off x="4712494" y="3263900"/>
            <a:ext cx="2849941"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1E23"/>
                </a:solidFill>
                <a:latin typeface="Inter" pitchFamily="34" charset="0"/>
                <a:ea typeface="Inter" pitchFamily="34" charset="-122"/>
                <a:cs typeface="Inter" pitchFamily="34" charset="-120"/>
              </a:rPr>
              <a:t>Explore → Plan → Implement</a:t>
            </a:r>
            <a:endParaRPr lang="en-US" sz="1500" dirty="0"/>
          </a:p>
          <a:p>
            <a:pPr algn="l" indent="0" marL="0">
              <a:lnSpc>
                <a:spcPts val="2250"/>
              </a:lnSpc>
              <a:buNone/>
            </a:pPr>
            <a:r>
              <a:rPr lang="en-US" sz="1500" dirty="0">
                <a:solidFill>
                  <a:srgbClr val="1B1E23"/>
                </a:solidFill>
                <a:latin typeface="Inter" pitchFamily="34" charset="0"/>
                <a:ea typeface="Inter" pitchFamily="34" charset="-122"/>
                <a:cs typeface="Inter" pitchFamily="34" charset="-120"/>
              </a:rPr>
              <a:t>Agentic TDD · BDD</a:t>
            </a:r>
            <a:endParaRPr lang="en-US" sz="1500" dirty="0"/>
          </a:p>
        </p:txBody>
      </p:sp>
      <p:sp>
        <p:nvSpPr>
          <p:cNvPr id="14" name="Shape 12"/>
          <p:cNvSpPr/>
          <p:nvPr/>
        </p:nvSpPr>
        <p:spPr>
          <a:xfrm>
            <a:off x="7995682" y="2525395"/>
            <a:ext cx="3380343" cy="1902460"/>
          </a:xfrm>
          <a:prstGeom prst="roundRect">
            <a:avLst>
              <a:gd name="adj" fmla="val 6509"/>
            </a:avLst>
          </a:prstGeom>
          <a:solidFill>
            <a:srgbClr val="FBF9F5"/>
          </a:solidFill>
          <a:ln w="6350">
            <a:solidFill>
              <a:srgbClr val="DDD6C8"/>
            </a:solidFill>
            <a:prstDash val="solid"/>
          </a:ln>
        </p:spPr>
      </p:sp>
      <p:sp>
        <p:nvSpPr>
          <p:cNvPr id="15" name="Text 13"/>
          <p:cNvSpPr/>
          <p:nvPr/>
        </p:nvSpPr>
        <p:spPr>
          <a:xfrm>
            <a:off x="8302387" y="2832100"/>
            <a:ext cx="28499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Spec-centric</a:t>
            </a:r>
            <a:endParaRPr lang="en-US" sz="2000" dirty="0"/>
          </a:p>
        </p:txBody>
      </p:sp>
      <p:sp>
        <p:nvSpPr>
          <p:cNvPr id="16" name="Text 14"/>
          <p:cNvSpPr/>
          <p:nvPr/>
        </p:nvSpPr>
        <p:spPr>
          <a:xfrm>
            <a:off x="8302387" y="3263900"/>
            <a:ext cx="2849941"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B1E23"/>
                </a:solidFill>
                <a:latin typeface="Inter" pitchFamily="34" charset="0"/>
                <a:ea typeface="Inter" pitchFamily="34" charset="-122"/>
                <a:cs typeface="Inter" pitchFamily="34" charset="-120"/>
              </a:rPr>
              <a:t>Spec-driven development</a:t>
            </a:r>
            <a:endParaRPr lang="en-US" sz="1500" dirty="0"/>
          </a:p>
          <a:p>
            <a:pPr algn="l" indent="0" marL="0">
              <a:lnSpc>
                <a:spcPts val="2250"/>
              </a:lnSpc>
              <a:buNone/>
            </a:pPr>
            <a:r>
              <a:rPr lang="en-US" sz="1500" dirty="0">
                <a:solidFill>
                  <a:srgbClr val="1B1E23"/>
                </a:solidFill>
                <a:latin typeface="Inter" pitchFamily="34" charset="0"/>
                <a:ea typeface="Inter" pitchFamily="34" charset="-122"/>
                <a:cs typeface="Inter" pitchFamily="34" charset="-120"/>
              </a:rPr>
              <a:t>Multi-agent roles · Autonomous loops</a:t>
            </a:r>
            <a:endParaRPr lang="en-US" sz="1500" dirty="0"/>
          </a:p>
        </p:txBody>
      </p:sp>
      <p:sp>
        <p:nvSpPr>
          <p:cNvPr id="17" name="Text 15"/>
          <p:cNvSpPr/>
          <p:nvPr/>
        </p:nvSpPr>
        <p:spPr>
          <a:xfrm>
            <a:off x="812800" y="4608830"/>
            <a:ext cx="10566400" cy="673100"/>
          </a:xfrm>
          <a:prstGeom prst="roundRect">
            <a:avLst>
              <a:gd name="adj" fmla="val 18868"/>
            </a:avLst>
          </a:prstGeom>
          <a:solidFill>
            <a:srgbClr val="2C5A88"/>
          </a:solidFill>
          <a:ln/>
        </p:spPr>
        <p:txBody>
          <a:bodyPr wrap="square" lIns="267603" tIns="166003" rIns="0" bIns="140603" rtlCol="0" anchor="t">
            <a:normAutofit/>
          </a:bodyPr>
          <a:lstStyle/>
          <a:p>
            <a:pPr algn="l" indent="0" marL="0">
              <a:lnSpc>
                <a:spcPts val="2100"/>
              </a:lnSpc>
              <a:buNone/>
            </a:pPr>
            <a:r>
              <a:rPr lang="en-US" sz="1500" b="1" dirty="0">
                <a:solidFill>
                  <a:srgbClr val="F4F1EA"/>
                </a:solidFill>
                <a:latin typeface="Inter" pitchFamily="34" charset="0"/>
                <a:ea typeface="Inter" pitchFamily="34" charset="-122"/>
                <a:cs typeface="Inter" pitchFamily="34" charset="-120"/>
              </a:rPr>
              <a:t>Underneath all of them:</a:t>
            </a:r>
            <a:r>
              <a:rPr lang="en-US" sz="1500" dirty="0">
                <a:solidFill>
                  <a:srgbClr val="F4F1EA"/>
                </a:solidFill>
                <a:latin typeface="Inter" pitchFamily="34" charset="0"/>
                <a:ea typeface="Inter" pitchFamily="34" charset="-122"/>
                <a:cs typeface="Inter" pitchFamily="34" charset="-120"/>
              </a:rPr>
              <a:t> context engineering and eval-driven development</a:t>
            </a:r>
            <a:endParaRPr lang="en-US" sz="1500" dirty="0"/>
          </a:p>
        </p:txBody>
      </p:sp>
      <p:sp>
        <p:nvSpPr>
          <p:cNvPr id="18" name="Text 16"/>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Working with AI agents · Dev retreat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61F"/>
                </a:solidFill>
                <a:latin typeface="Inter" pitchFamily="34" charset="0"/>
                <a:ea typeface="Inter" pitchFamily="34" charset="-122"/>
                <a:cs typeface="Inter" pitchFamily="34" charset="-120"/>
              </a:rPr>
              <a:t>CONVERSATIONAL</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E23"/>
                </a:solidFill>
                <a:latin typeface="Space Grotesk" pitchFamily="34" charset="0"/>
                <a:ea typeface="Space Grotesk" pitchFamily="34" charset="-122"/>
                <a:cs typeface="Space Grotesk" pitchFamily="34" charset="-120"/>
              </a:rPr>
              <a:t>Intent lives in the conversation</a:t>
            </a:r>
            <a:endParaRPr lang="en-US" sz="3600" dirty="0"/>
          </a:p>
        </p:txBody>
      </p:sp>
      <p:sp>
        <p:nvSpPr>
          <p:cNvPr id="4" name="Shape 2"/>
          <p:cNvSpPr/>
          <p:nvPr/>
        </p:nvSpPr>
        <p:spPr>
          <a:xfrm>
            <a:off x="815975" y="1989455"/>
            <a:ext cx="5175250" cy="2625090"/>
          </a:xfrm>
          <a:prstGeom prst="roundRect">
            <a:avLst>
              <a:gd name="adj" fmla="val 4717"/>
            </a:avLst>
          </a:prstGeom>
          <a:solidFill>
            <a:srgbClr val="FBF9F5"/>
          </a:solidFill>
          <a:ln w="6350">
            <a:solidFill>
              <a:srgbClr val="DDD6C8"/>
            </a:solidFill>
            <a:prstDash val="solid"/>
          </a:ln>
        </p:spPr>
      </p:sp>
      <p:sp>
        <p:nvSpPr>
          <p:cNvPr id="5" name="Text 3"/>
          <p:cNvSpPr/>
          <p:nvPr/>
        </p:nvSpPr>
        <p:spPr>
          <a:xfrm>
            <a:off x="1122680" y="2296161"/>
            <a:ext cx="46986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Vibe coding</a:t>
            </a:r>
            <a:endParaRPr lang="en-US" sz="2000" dirty="0"/>
          </a:p>
        </p:txBody>
      </p:sp>
      <p:sp>
        <p:nvSpPr>
          <p:cNvPr id="6" name="Text 4"/>
          <p:cNvSpPr/>
          <p:nvPr/>
        </p:nvSpPr>
        <p:spPr>
          <a:xfrm>
            <a:off x="1122680" y="2727961"/>
            <a:ext cx="469869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1E23"/>
                </a:solidFill>
                <a:latin typeface="Inter" pitchFamily="34" charset="0"/>
                <a:ea typeface="Inter" pitchFamily="34" charset="-122"/>
                <a:cs typeface="Inter" pitchFamily="34" charset="-120"/>
              </a:rPr>
              <a:t>Describe what you want, accept what comes back, iterate by feel. Review is light.</a:t>
            </a:r>
            <a:endParaRPr lang="en-US" sz="1500" dirty="0"/>
          </a:p>
        </p:txBody>
      </p:sp>
      <p:sp>
        <p:nvSpPr>
          <p:cNvPr id="7" name="Text 5"/>
          <p:cNvSpPr/>
          <p:nvPr/>
        </p:nvSpPr>
        <p:spPr>
          <a:xfrm>
            <a:off x="1122680" y="3407411"/>
            <a:ext cx="4698695"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C5A88"/>
                </a:solidFill>
                <a:latin typeface="Inter" pitchFamily="34" charset="0"/>
                <a:ea typeface="Inter" pitchFamily="34" charset="-122"/>
                <a:cs typeface="Inter" pitchFamily="34" charset="-120"/>
              </a:rPr>
              <a:t>Best for</a:t>
            </a:r>
            <a:r>
              <a:rPr lang="en-US" sz="1400" dirty="0">
                <a:solidFill>
                  <a:srgbClr val="1B1E23"/>
                </a:solidFill>
                <a:latin typeface="Inter" pitchFamily="34" charset="0"/>
                <a:ea typeface="Inter" pitchFamily="34" charset="-122"/>
                <a:cs typeface="Inter" pitchFamily="34" charset="-120"/>
              </a:rPr>
              <a:t> prototypes, spikes, throwaway scripts</a:t>
            </a:r>
            <a:endParaRPr lang="en-US" sz="1400" dirty="0"/>
          </a:p>
        </p:txBody>
      </p:sp>
      <p:sp>
        <p:nvSpPr>
          <p:cNvPr id="8" name="Text 6"/>
          <p:cNvSpPr/>
          <p:nvPr/>
        </p:nvSpPr>
        <p:spPr>
          <a:xfrm>
            <a:off x="1122680" y="3792220"/>
            <a:ext cx="4698695" cy="54102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A8461F"/>
                </a:solidFill>
                <a:latin typeface="Inter" pitchFamily="34" charset="0"/>
                <a:ea typeface="Inter" pitchFamily="34" charset="-122"/>
                <a:cs typeface="Inter" pitchFamily="34" charset="-120"/>
              </a:rPr>
              <a:t>Watch out</a:t>
            </a:r>
            <a:r>
              <a:rPr lang="en-US" sz="1400" dirty="0">
                <a:solidFill>
                  <a:srgbClr val="1B1E23"/>
                </a:solidFill>
                <a:latin typeface="Inter" pitchFamily="34" charset="0"/>
                <a:ea typeface="Inter" pitchFamily="34" charset="-122"/>
                <a:cs typeface="Inter" pitchFamily="34" charset="-120"/>
              </a:rPr>
              <a:t> design drifts and nobody fully understands the result</a:t>
            </a:r>
            <a:endParaRPr lang="en-US" sz="1400" dirty="0"/>
          </a:p>
        </p:txBody>
      </p:sp>
      <p:sp>
        <p:nvSpPr>
          <p:cNvPr id="9" name="Shape 7"/>
          <p:cNvSpPr/>
          <p:nvPr/>
        </p:nvSpPr>
        <p:spPr>
          <a:xfrm>
            <a:off x="6200775" y="1989455"/>
            <a:ext cx="5175250" cy="2625090"/>
          </a:xfrm>
          <a:prstGeom prst="roundRect">
            <a:avLst>
              <a:gd name="adj" fmla="val 4717"/>
            </a:avLst>
          </a:prstGeom>
          <a:solidFill>
            <a:srgbClr val="FBF9F5"/>
          </a:solidFill>
          <a:ln w="6350">
            <a:solidFill>
              <a:srgbClr val="DDD6C8"/>
            </a:solidFill>
            <a:prstDash val="solid"/>
          </a:ln>
        </p:spPr>
      </p:sp>
      <p:sp>
        <p:nvSpPr>
          <p:cNvPr id="10" name="Text 8"/>
          <p:cNvSpPr/>
          <p:nvPr/>
        </p:nvSpPr>
        <p:spPr>
          <a:xfrm>
            <a:off x="6507480" y="2296161"/>
            <a:ext cx="46986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AI pair programming</a:t>
            </a:r>
            <a:endParaRPr lang="en-US" sz="2000" dirty="0"/>
          </a:p>
        </p:txBody>
      </p:sp>
      <p:sp>
        <p:nvSpPr>
          <p:cNvPr id="11" name="Text 9"/>
          <p:cNvSpPr/>
          <p:nvPr/>
        </p:nvSpPr>
        <p:spPr>
          <a:xfrm>
            <a:off x="6507480" y="2727961"/>
            <a:ext cx="469869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1E23"/>
                </a:solidFill>
                <a:latin typeface="Inter" pitchFamily="34" charset="0"/>
                <a:ea typeface="Inter" pitchFamily="34" charset="-122"/>
                <a:cs typeface="Inter" pitchFamily="34" charset="-120"/>
              </a:rPr>
              <a:t>The developer drives; the agent helps in small, reviewed steps. The human owns the design.</a:t>
            </a:r>
            <a:endParaRPr lang="en-US" sz="1500" dirty="0"/>
          </a:p>
        </p:txBody>
      </p:sp>
      <p:sp>
        <p:nvSpPr>
          <p:cNvPr id="12" name="Text 10"/>
          <p:cNvSpPr/>
          <p:nvPr/>
        </p:nvSpPr>
        <p:spPr>
          <a:xfrm>
            <a:off x="6507480" y="3407411"/>
            <a:ext cx="4698695"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C5A88"/>
                </a:solidFill>
                <a:latin typeface="Inter" pitchFamily="34" charset="0"/>
                <a:ea typeface="Inter" pitchFamily="34" charset="-122"/>
                <a:cs typeface="Inter" pitchFamily="34" charset="-120"/>
              </a:rPr>
              <a:t>Best for</a:t>
            </a:r>
            <a:r>
              <a:rPr lang="en-US" sz="1400" dirty="0">
                <a:solidFill>
                  <a:srgbClr val="1B1E23"/>
                </a:solidFill>
                <a:latin typeface="Inter" pitchFamily="34" charset="0"/>
                <a:ea typeface="Inter" pitchFamily="34" charset="-122"/>
                <a:cs typeface="Inter" pitchFamily="34" charset="-120"/>
              </a:rPr>
              <a:t> everyday work in a familiar codebase</a:t>
            </a:r>
            <a:endParaRPr lang="en-US" sz="1400" dirty="0"/>
          </a:p>
        </p:txBody>
      </p:sp>
      <p:sp>
        <p:nvSpPr>
          <p:cNvPr id="13" name="Text 11"/>
          <p:cNvSpPr/>
          <p:nvPr/>
        </p:nvSpPr>
        <p:spPr>
          <a:xfrm>
            <a:off x="6507480" y="3792220"/>
            <a:ext cx="4698695"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A8461F"/>
                </a:solidFill>
                <a:latin typeface="Inter" pitchFamily="34" charset="0"/>
                <a:ea typeface="Inter" pitchFamily="34" charset="-122"/>
                <a:cs typeface="Inter" pitchFamily="34" charset="-120"/>
              </a:rPr>
              <a:t>Watch out</a:t>
            </a:r>
            <a:r>
              <a:rPr lang="en-US" sz="1400" dirty="0">
                <a:solidFill>
                  <a:srgbClr val="1B1E23"/>
                </a:solidFill>
                <a:latin typeface="Inter" pitchFamily="34" charset="0"/>
                <a:ea typeface="Inter" pitchFamily="34" charset="-122"/>
                <a:cs typeface="Inter" pitchFamily="34" charset="-120"/>
              </a:rPr>
              <a:t> limited leverage; you stay the bottleneck</a:t>
            </a:r>
            <a:endParaRPr lang="en-US" sz="1400" dirty="0"/>
          </a:p>
        </p:txBody>
      </p:sp>
      <p:sp>
        <p:nvSpPr>
          <p:cNvPr id="14"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Working with AI agents · Dev retreat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61F"/>
                </a:solidFill>
                <a:latin typeface="Inter" pitchFamily="34" charset="0"/>
                <a:ea typeface="Inter" pitchFamily="34" charset="-122"/>
                <a:cs typeface="Inter" pitchFamily="34" charset="-120"/>
              </a:rPr>
              <a:t>PLAN-FIRST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E23"/>
                </a:solidFill>
                <a:latin typeface="Space Grotesk" pitchFamily="34" charset="0"/>
                <a:ea typeface="Space Grotesk" pitchFamily="34" charset="-122"/>
                <a:cs typeface="Space Grotesk" pitchFamily="34" charset="-120"/>
              </a:rPr>
              <a:t>Explore → Plan → Implement</a:t>
            </a:r>
            <a:endParaRPr lang="en-US" sz="3600" dirty="0"/>
          </a:p>
        </p:txBody>
      </p:sp>
      <p:sp>
        <p:nvSpPr>
          <p:cNvPr id="4" name="Shape 2"/>
          <p:cNvSpPr/>
          <p:nvPr/>
        </p:nvSpPr>
        <p:spPr>
          <a:xfrm>
            <a:off x="815975" y="1989457"/>
            <a:ext cx="2254250" cy="2006600"/>
          </a:xfrm>
          <a:prstGeom prst="roundRect">
            <a:avLst>
              <a:gd name="adj" fmla="val 6171"/>
            </a:avLst>
          </a:prstGeom>
          <a:solidFill>
            <a:srgbClr val="FBF9F5"/>
          </a:solidFill>
          <a:ln w="6350">
            <a:solidFill>
              <a:srgbClr val="DDD6C8"/>
            </a:solidFill>
            <a:prstDash val="solid"/>
          </a:ln>
        </p:spPr>
      </p:sp>
      <p:sp>
        <p:nvSpPr>
          <p:cNvPr id="5" name="Text 3"/>
          <p:cNvSpPr/>
          <p:nvPr/>
        </p:nvSpPr>
        <p:spPr>
          <a:xfrm>
            <a:off x="1071880" y="2245361"/>
            <a:ext cx="1794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F"/>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1071880" y="2560321"/>
            <a:ext cx="17947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Explore</a:t>
            </a:r>
            <a:endParaRPr lang="en-US" sz="2000" dirty="0"/>
          </a:p>
        </p:txBody>
      </p:sp>
      <p:sp>
        <p:nvSpPr>
          <p:cNvPr id="7" name="Text 5"/>
          <p:cNvSpPr/>
          <p:nvPr/>
        </p:nvSpPr>
        <p:spPr>
          <a:xfrm>
            <a:off x="1071880" y="2966721"/>
            <a:ext cx="1794713"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E23"/>
                </a:solidFill>
                <a:latin typeface="Inter" pitchFamily="34" charset="0"/>
                <a:ea typeface="Inter" pitchFamily="34" charset="-122"/>
                <a:cs typeface="Inter" pitchFamily="34" charset="-120"/>
              </a:rPr>
              <a:t>Agent reads the relevant code. No edits yet.</a:t>
            </a:r>
            <a:endParaRPr lang="en-US" sz="1400" dirty="0"/>
          </a:p>
        </p:txBody>
      </p:sp>
      <p:sp>
        <p:nvSpPr>
          <p:cNvPr id="8" name="Text 6"/>
          <p:cNvSpPr/>
          <p:nvPr/>
        </p:nvSpPr>
        <p:spPr>
          <a:xfrm>
            <a:off x="3175000" y="2779396"/>
            <a:ext cx="365760"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61F"/>
                </a:solidFill>
                <a:latin typeface="Inter" pitchFamily="34" charset="0"/>
                <a:ea typeface="Inter" pitchFamily="34" charset="-122"/>
                <a:cs typeface="Inter" pitchFamily="34" charset="-120"/>
              </a:rPr>
              <a:t>→</a:t>
            </a:r>
            <a:endParaRPr lang="en-US" sz="2400" dirty="0"/>
          </a:p>
        </p:txBody>
      </p:sp>
      <p:sp>
        <p:nvSpPr>
          <p:cNvPr id="9" name="Shape 7"/>
          <p:cNvSpPr/>
          <p:nvPr/>
        </p:nvSpPr>
        <p:spPr>
          <a:xfrm>
            <a:off x="3584575" y="1989457"/>
            <a:ext cx="2254250" cy="2006600"/>
          </a:xfrm>
          <a:prstGeom prst="roundRect">
            <a:avLst>
              <a:gd name="adj" fmla="val 6171"/>
            </a:avLst>
          </a:prstGeom>
          <a:solidFill>
            <a:srgbClr val="FBF9F5"/>
          </a:solidFill>
          <a:ln w="6350">
            <a:solidFill>
              <a:srgbClr val="DDD6C8"/>
            </a:solidFill>
            <a:prstDash val="solid"/>
          </a:ln>
        </p:spPr>
      </p:sp>
      <p:sp>
        <p:nvSpPr>
          <p:cNvPr id="10" name="Text 8"/>
          <p:cNvSpPr/>
          <p:nvPr/>
        </p:nvSpPr>
        <p:spPr>
          <a:xfrm>
            <a:off x="3840480" y="2245361"/>
            <a:ext cx="1794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F"/>
                </a:solidFill>
                <a:latin typeface="Inter" pitchFamily="34" charset="0"/>
                <a:ea typeface="Inter" pitchFamily="34" charset="-122"/>
                <a:cs typeface="Inter" pitchFamily="34" charset="-120"/>
              </a:rPr>
              <a:t>02</a:t>
            </a:r>
            <a:endParaRPr lang="en-US" sz="1200" dirty="0"/>
          </a:p>
        </p:txBody>
      </p:sp>
      <p:sp>
        <p:nvSpPr>
          <p:cNvPr id="11" name="Text 9"/>
          <p:cNvSpPr/>
          <p:nvPr/>
        </p:nvSpPr>
        <p:spPr>
          <a:xfrm>
            <a:off x="3840480" y="2560321"/>
            <a:ext cx="17947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Plan</a:t>
            </a:r>
            <a:endParaRPr lang="en-US" sz="2000" dirty="0"/>
          </a:p>
        </p:txBody>
      </p:sp>
      <p:sp>
        <p:nvSpPr>
          <p:cNvPr id="12" name="Text 10"/>
          <p:cNvSpPr/>
          <p:nvPr/>
        </p:nvSpPr>
        <p:spPr>
          <a:xfrm>
            <a:off x="3840480" y="2966721"/>
            <a:ext cx="1794713"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E23"/>
                </a:solidFill>
                <a:latin typeface="Inter" pitchFamily="34" charset="0"/>
                <a:ea typeface="Inter" pitchFamily="34" charset="-122"/>
                <a:cs typeface="Inter" pitchFamily="34" charset="-120"/>
              </a:rPr>
              <a:t>Agent writes a plan. You review and correct it.</a:t>
            </a:r>
            <a:endParaRPr lang="en-US" sz="1400" dirty="0"/>
          </a:p>
        </p:txBody>
      </p:sp>
      <p:sp>
        <p:nvSpPr>
          <p:cNvPr id="13" name="Text 11"/>
          <p:cNvSpPr/>
          <p:nvPr/>
        </p:nvSpPr>
        <p:spPr>
          <a:xfrm>
            <a:off x="5943600" y="2779396"/>
            <a:ext cx="365760"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61F"/>
                </a:solidFill>
                <a:latin typeface="Inter" pitchFamily="34" charset="0"/>
                <a:ea typeface="Inter" pitchFamily="34" charset="-122"/>
                <a:cs typeface="Inter" pitchFamily="34" charset="-120"/>
              </a:rPr>
              <a:t>→</a:t>
            </a:r>
            <a:endParaRPr lang="en-US" sz="2400" dirty="0"/>
          </a:p>
        </p:txBody>
      </p:sp>
      <p:sp>
        <p:nvSpPr>
          <p:cNvPr id="14" name="Shape 12"/>
          <p:cNvSpPr/>
          <p:nvPr/>
        </p:nvSpPr>
        <p:spPr>
          <a:xfrm>
            <a:off x="6353175" y="1989457"/>
            <a:ext cx="2254250" cy="2006600"/>
          </a:xfrm>
          <a:prstGeom prst="roundRect">
            <a:avLst>
              <a:gd name="adj" fmla="val 6171"/>
            </a:avLst>
          </a:prstGeom>
          <a:solidFill>
            <a:srgbClr val="FBF9F5"/>
          </a:solidFill>
          <a:ln w="6350">
            <a:solidFill>
              <a:srgbClr val="DDD6C8"/>
            </a:solidFill>
            <a:prstDash val="solid"/>
          </a:ln>
        </p:spPr>
      </p:sp>
      <p:sp>
        <p:nvSpPr>
          <p:cNvPr id="15" name="Text 13"/>
          <p:cNvSpPr/>
          <p:nvPr/>
        </p:nvSpPr>
        <p:spPr>
          <a:xfrm>
            <a:off x="6609080" y="2245361"/>
            <a:ext cx="1794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F"/>
                </a:solidFill>
                <a:latin typeface="Inter" pitchFamily="34" charset="0"/>
                <a:ea typeface="Inter" pitchFamily="34" charset="-122"/>
                <a:cs typeface="Inter" pitchFamily="34" charset="-120"/>
              </a:rPr>
              <a:t>03</a:t>
            </a:r>
            <a:endParaRPr lang="en-US" sz="1200" dirty="0"/>
          </a:p>
        </p:txBody>
      </p:sp>
      <p:sp>
        <p:nvSpPr>
          <p:cNvPr id="16" name="Text 14"/>
          <p:cNvSpPr/>
          <p:nvPr/>
        </p:nvSpPr>
        <p:spPr>
          <a:xfrm>
            <a:off x="6609080" y="2560321"/>
            <a:ext cx="17947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Implement</a:t>
            </a:r>
            <a:endParaRPr lang="en-US" sz="2000" dirty="0"/>
          </a:p>
        </p:txBody>
      </p:sp>
      <p:sp>
        <p:nvSpPr>
          <p:cNvPr id="17" name="Text 15"/>
          <p:cNvSpPr/>
          <p:nvPr/>
        </p:nvSpPr>
        <p:spPr>
          <a:xfrm>
            <a:off x="6609080" y="2966721"/>
            <a:ext cx="1794713"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E23"/>
                </a:solidFill>
                <a:latin typeface="Inter" pitchFamily="34" charset="0"/>
                <a:ea typeface="Inter" pitchFamily="34" charset="-122"/>
                <a:cs typeface="Inter" pitchFamily="34" charset="-120"/>
              </a:rPr>
              <a:t>Agent codes against the approved plan.</a:t>
            </a:r>
            <a:endParaRPr lang="en-US" sz="1400" dirty="0"/>
          </a:p>
        </p:txBody>
      </p:sp>
      <p:sp>
        <p:nvSpPr>
          <p:cNvPr id="18" name="Text 16"/>
          <p:cNvSpPr/>
          <p:nvPr/>
        </p:nvSpPr>
        <p:spPr>
          <a:xfrm>
            <a:off x="8712200" y="2779396"/>
            <a:ext cx="365760"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61F"/>
                </a:solidFill>
                <a:latin typeface="Inter" pitchFamily="34" charset="0"/>
                <a:ea typeface="Inter" pitchFamily="34" charset="-122"/>
                <a:cs typeface="Inter" pitchFamily="34" charset="-120"/>
              </a:rPr>
              <a:t>→</a:t>
            </a:r>
            <a:endParaRPr lang="en-US" sz="2400" dirty="0"/>
          </a:p>
        </p:txBody>
      </p:sp>
      <p:sp>
        <p:nvSpPr>
          <p:cNvPr id="19" name="Shape 17"/>
          <p:cNvSpPr/>
          <p:nvPr/>
        </p:nvSpPr>
        <p:spPr>
          <a:xfrm>
            <a:off x="9121775" y="1989457"/>
            <a:ext cx="2254250" cy="2006600"/>
          </a:xfrm>
          <a:prstGeom prst="roundRect">
            <a:avLst>
              <a:gd name="adj" fmla="val 6171"/>
            </a:avLst>
          </a:prstGeom>
          <a:solidFill>
            <a:srgbClr val="FBF9F5"/>
          </a:solidFill>
          <a:ln w="6350">
            <a:solidFill>
              <a:srgbClr val="DDD6C8"/>
            </a:solidFill>
            <a:prstDash val="solid"/>
          </a:ln>
        </p:spPr>
      </p:sp>
      <p:sp>
        <p:nvSpPr>
          <p:cNvPr id="20" name="Text 18"/>
          <p:cNvSpPr/>
          <p:nvPr/>
        </p:nvSpPr>
        <p:spPr>
          <a:xfrm>
            <a:off x="9377680" y="2245361"/>
            <a:ext cx="1794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F"/>
                </a:solidFill>
                <a:latin typeface="Inter" pitchFamily="34" charset="0"/>
                <a:ea typeface="Inter" pitchFamily="34" charset="-122"/>
                <a:cs typeface="Inter" pitchFamily="34" charset="-120"/>
              </a:rPr>
              <a:t>04</a:t>
            </a:r>
            <a:endParaRPr lang="en-US" sz="1200" dirty="0"/>
          </a:p>
        </p:txBody>
      </p:sp>
      <p:sp>
        <p:nvSpPr>
          <p:cNvPr id="21" name="Text 19"/>
          <p:cNvSpPr/>
          <p:nvPr/>
        </p:nvSpPr>
        <p:spPr>
          <a:xfrm>
            <a:off x="9377680" y="2560321"/>
            <a:ext cx="17947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Commit</a:t>
            </a:r>
            <a:endParaRPr lang="en-US" sz="2000" dirty="0"/>
          </a:p>
        </p:txBody>
      </p:sp>
      <p:sp>
        <p:nvSpPr>
          <p:cNvPr id="22" name="Text 20"/>
          <p:cNvSpPr/>
          <p:nvPr/>
        </p:nvSpPr>
        <p:spPr>
          <a:xfrm>
            <a:off x="9377680" y="2966721"/>
            <a:ext cx="1794713"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E23"/>
                </a:solidFill>
                <a:latin typeface="Inter" pitchFamily="34" charset="0"/>
                <a:ea typeface="Inter" pitchFamily="34" charset="-122"/>
                <a:cs typeface="Inter" pitchFamily="34" charset="-120"/>
              </a:rPr>
              <a:t>Review the diff, run tests, commit.</a:t>
            </a:r>
            <a:endParaRPr lang="en-US" sz="1400" dirty="0"/>
          </a:p>
        </p:txBody>
      </p:sp>
      <p:sp>
        <p:nvSpPr>
          <p:cNvPr id="23" name="Text 21"/>
          <p:cNvSpPr/>
          <p:nvPr/>
        </p:nvSpPr>
        <p:spPr>
          <a:xfrm>
            <a:off x="812800" y="4354832"/>
            <a:ext cx="981075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B1E23"/>
                </a:solidFill>
                <a:latin typeface="Inter" pitchFamily="34" charset="0"/>
                <a:ea typeface="Inter" pitchFamily="34" charset="-122"/>
                <a:cs typeface="Inter" pitchFamily="34" charset="-120"/>
              </a:rPr>
              <a:t>The plan is a </a:t>
            </a:r>
            <a:r>
              <a:rPr lang="en-US" sz="1600" b="1" dirty="0">
                <a:solidFill>
                  <a:srgbClr val="1B1E23"/>
                </a:solidFill>
                <a:latin typeface="Inter" pitchFamily="34" charset="0"/>
                <a:ea typeface="Inter" pitchFamily="34" charset="-122"/>
                <a:cs typeface="Inter" pitchFamily="34" charset="-120"/>
              </a:rPr>
              <a:t>throwaway artifact for one task</a:t>
            </a:r>
            <a:r>
              <a:rPr lang="en-US" sz="1600" dirty="0">
                <a:solidFill>
                  <a:srgbClr val="1B1E23"/>
                </a:solidFill>
                <a:latin typeface="Inter" pitchFamily="34" charset="0"/>
                <a:ea typeface="Inter" pitchFamily="34" charset="-122"/>
                <a:cs typeface="Inter" pitchFamily="34" charset="-120"/>
              </a:rPr>
              <a:t>: a lightweight cousin of spec-driven development. Claude Code's plan mode supports it directly.</a:t>
            </a:r>
            <a:endParaRPr lang="en-US" sz="1600" dirty="0"/>
          </a:p>
        </p:txBody>
      </p:sp>
      <p:sp>
        <p:nvSpPr>
          <p:cNvPr id="24" name="Text 2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Working with AI agents · Dev retreat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61F"/>
                </a:solidFill>
                <a:latin typeface="Inter" pitchFamily="34" charset="0"/>
                <a:ea typeface="Inter" pitchFamily="34" charset="-122"/>
                <a:cs typeface="Inter" pitchFamily="34" charset="-120"/>
              </a:rPr>
              <a:t>TEST-FIRST</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E23"/>
                </a:solidFill>
                <a:latin typeface="Space Grotesk" pitchFamily="34" charset="0"/>
                <a:ea typeface="Space Grotesk" pitchFamily="34" charset="-122"/>
                <a:cs typeface="Space Grotesk" pitchFamily="34" charset="-120"/>
              </a:rPr>
              <a:t>Tests as the specification</a:t>
            </a:r>
            <a:endParaRPr lang="en-US" sz="3600" dirty="0"/>
          </a:p>
        </p:txBody>
      </p:sp>
      <p:sp>
        <p:nvSpPr>
          <p:cNvPr id="4" name="Shape 2"/>
          <p:cNvSpPr/>
          <p:nvPr/>
        </p:nvSpPr>
        <p:spPr>
          <a:xfrm>
            <a:off x="815975" y="1989457"/>
            <a:ext cx="5175250" cy="2516505"/>
          </a:xfrm>
          <a:prstGeom prst="roundRect">
            <a:avLst>
              <a:gd name="adj" fmla="val 4921"/>
            </a:avLst>
          </a:prstGeom>
          <a:solidFill>
            <a:srgbClr val="FBF9F5"/>
          </a:solidFill>
          <a:ln w="6350">
            <a:solidFill>
              <a:srgbClr val="DDD6C8"/>
            </a:solidFill>
            <a:prstDash val="solid"/>
          </a:ln>
        </p:spPr>
      </p:sp>
      <p:sp>
        <p:nvSpPr>
          <p:cNvPr id="5" name="Text 3"/>
          <p:cNvSpPr/>
          <p:nvPr/>
        </p:nvSpPr>
        <p:spPr>
          <a:xfrm>
            <a:off x="1122680" y="2296161"/>
            <a:ext cx="46986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Agentic TDD</a:t>
            </a:r>
            <a:endParaRPr lang="en-US" sz="2000" dirty="0"/>
          </a:p>
        </p:txBody>
      </p:sp>
      <p:sp>
        <p:nvSpPr>
          <p:cNvPr id="6" name="Text 4"/>
          <p:cNvSpPr/>
          <p:nvPr/>
        </p:nvSpPr>
        <p:spPr>
          <a:xfrm>
            <a:off x="1122680" y="2727961"/>
            <a:ext cx="4698695"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1E23"/>
                </a:solidFill>
                <a:latin typeface="Inter" pitchFamily="34" charset="0"/>
                <a:ea typeface="Inter" pitchFamily="34" charset="-122"/>
                <a:cs typeface="Inter" pitchFamily="34" charset="-120"/>
              </a:rPr>
              <a:t>Write failing tests first and confirm they fail. Then the agent implements until they pass, without editing the tests.</a:t>
            </a:r>
            <a:endParaRPr lang="en-US" sz="1500" dirty="0"/>
          </a:p>
        </p:txBody>
      </p:sp>
      <p:sp>
        <p:nvSpPr>
          <p:cNvPr id="7" name="Text 5"/>
          <p:cNvSpPr/>
          <p:nvPr/>
        </p:nvSpPr>
        <p:spPr>
          <a:xfrm>
            <a:off x="1122680" y="3683636"/>
            <a:ext cx="4698695" cy="54102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C5A88"/>
                </a:solidFill>
                <a:latin typeface="Inter" pitchFamily="34" charset="0"/>
                <a:ea typeface="Inter" pitchFamily="34" charset="-122"/>
                <a:cs typeface="Inter" pitchFamily="34" charset="-120"/>
              </a:rPr>
              <a:t>Why it works</a:t>
            </a:r>
            <a:r>
              <a:rPr lang="en-US" sz="1400" dirty="0">
                <a:solidFill>
                  <a:srgbClr val="1B1E23"/>
                </a:solidFill>
                <a:latin typeface="Inter" pitchFamily="34" charset="0"/>
                <a:ea typeface="Inter" pitchFamily="34" charset="-122"/>
                <a:cs typeface="Inter" pitchFamily="34" charset="-120"/>
              </a:rPr>
              <a:t> an executable spec lets the agent check its own work</a:t>
            </a:r>
            <a:endParaRPr lang="en-US" sz="1400" dirty="0"/>
          </a:p>
        </p:txBody>
      </p:sp>
      <p:sp>
        <p:nvSpPr>
          <p:cNvPr id="8" name="Shape 6"/>
          <p:cNvSpPr/>
          <p:nvPr/>
        </p:nvSpPr>
        <p:spPr>
          <a:xfrm>
            <a:off x="6200775" y="1989457"/>
            <a:ext cx="5175250" cy="2516505"/>
          </a:xfrm>
          <a:prstGeom prst="roundRect">
            <a:avLst>
              <a:gd name="adj" fmla="val 4921"/>
            </a:avLst>
          </a:prstGeom>
          <a:solidFill>
            <a:srgbClr val="FBF9F5"/>
          </a:solidFill>
          <a:ln w="6350">
            <a:solidFill>
              <a:srgbClr val="DDD6C8"/>
            </a:solidFill>
            <a:prstDash val="solid"/>
          </a:ln>
        </p:spPr>
      </p:sp>
      <p:sp>
        <p:nvSpPr>
          <p:cNvPr id="9" name="Text 7"/>
          <p:cNvSpPr/>
          <p:nvPr/>
        </p:nvSpPr>
        <p:spPr>
          <a:xfrm>
            <a:off x="6507480" y="2296161"/>
            <a:ext cx="46986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Behavior-Driven Development</a:t>
            </a:r>
            <a:endParaRPr lang="en-US" sz="2000" dirty="0"/>
          </a:p>
        </p:txBody>
      </p:sp>
      <p:sp>
        <p:nvSpPr>
          <p:cNvPr id="10" name="Text 8"/>
          <p:cNvSpPr/>
          <p:nvPr/>
        </p:nvSpPr>
        <p:spPr>
          <a:xfrm>
            <a:off x="6507480" y="2727961"/>
            <a:ext cx="4698695"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1E23"/>
                </a:solidFill>
                <a:latin typeface="Inter" pitchFamily="34" charset="0"/>
                <a:ea typeface="Inter" pitchFamily="34" charset="-122"/>
                <a:cs typeface="Inter" pitchFamily="34" charset="-120"/>
              </a:rPr>
              <a:t>Given / When / Then scenarios that humans can read and machines can run. In .NET: Reqnroll, the successor to SpecFlow.</a:t>
            </a:r>
            <a:endParaRPr lang="en-US" sz="1500" dirty="0"/>
          </a:p>
        </p:txBody>
      </p:sp>
      <p:sp>
        <p:nvSpPr>
          <p:cNvPr id="11" name="Text 9"/>
          <p:cNvSpPr/>
          <p:nvPr/>
        </p:nvSpPr>
        <p:spPr>
          <a:xfrm>
            <a:off x="6507480" y="3683636"/>
            <a:ext cx="4698695" cy="54102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C5A88"/>
                </a:solidFill>
                <a:latin typeface="Inter" pitchFamily="34" charset="0"/>
                <a:ea typeface="Inter" pitchFamily="34" charset="-122"/>
                <a:cs typeface="Inter" pitchFamily="34" charset="-120"/>
              </a:rPr>
              <a:t>Why it matters</a:t>
            </a:r>
            <a:r>
              <a:rPr lang="en-US" sz="1400" dirty="0">
                <a:solidFill>
                  <a:srgbClr val="1B1E23"/>
                </a:solidFill>
                <a:latin typeface="Inter" pitchFamily="34" charset="0"/>
                <a:ea typeface="Inter" pitchFamily="34" charset="-122"/>
                <a:cs typeface="Inter" pitchFamily="34" charset="-120"/>
              </a:rPr>
              <a:t> one of the ancestors of spec-driven development</a:t>
            </a:r>
            <a:endParaRPr lang="en-US" sz="1400" dirty="0"/>
          </a:p>
        </p:txBody>
      </p:sp>
      <p:sp>
        <p:nvSpPr>
          <p:cNvPr id="12" name="Text 10"/>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Working with AI agents · Dev retreat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61F"/>
                </a:solidFill>
                <a:latin typeface="Inter" pitchFamily="34" charset="0"/>
                <a:ea typeface="Inter" pitchFamily="34" charset="-122"/>
                <a:cs typeface="Inter" pitchFamily="34" charset="-120"/>
              </a:rPr>
              <a:t>SPEC-CENTRIC</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E23"/>
                </a:solidFill>
                <a:latin typeface="Space Grotesk" pitchFamily="34" charset="0"/>
                <a:ea typeface="Space Grotesk" pitchFamily="34" charset="-122"/>
                <a:cs typeface="Space Grotesk" pitchFamily="34" charset="-120"/>
              </a:rPr>
              <a:t>Spec-driven development</a:t>
            </a:r>
            <a:endParaRPr lang="en-US" sz="3600" dirty="0"/>
          </a:p>
        </p:txBody>
      </p:sp>
      <p:sp>
        <p:nvSpPr>
          <p:cNvPr id="4" name="Shape 2"/>
          <p:cNvSpPr/>
          <p:nvPr/>
        </p:nvSpPr>
        <p:spPr>
          <a:xfrm>
            <a:off x="815975" y="1989457"/>
            <a:ext cx="2254250" cy="2006600"/>
          </a:xfrm>
          <a:prstGeom prst="roundRect">
            <a:avLst>
              <a:gd name="adj" fmla="val 6171"/>
            </a:avLst>
          </a:prstGeom>
          <a:solidFill>
            <a:srgbClr val="FBF9F5"/>
          </a:solidFill>
          <a:ln w="6350">
            <a:solidFill>
              <a:srgbClr val="DDD6C8"/>
            </a:solidFill>
            <a:prstDash val="solid"/>
          </a:ln>
        </p:spPr>
      </p:sp>
      <p:sp>
        <p:nvSpPr>
          <p:cNvPr id="5" name="Text 3"/>
          <p:cNvSpPr/>
          <p:nvPr/>
        </p:nvSpPr>
        <p:spPr>
          <a:xfrm>
            <a:off x="1071880" y="2245361"/>
            <a:ext cx="1794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F"/>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1071880" y="2560321"/>
            <a:ext cx="17947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Specify</a:t>
            </a:r>
            <a:endParaRPr lang="en-US" sz="2000" dirty="0"/>
          </a:p>
        </p:txBody>
      </p:sp>
      <p:sp>
        <p:nvSpPr>
          <p:cNvPr id="7" name="Text 5"/>
          <p:cNvSpPr/>
          <p:nvPr/>
        </p:nvSpPr>
        <p:spPr>
          <a:xfrm>
            <a:off x="1071880" y="2966721"/>
            <a:ext cx="1794713"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E23"/>
                </a:solidFill>
                <a:latin typeface="Inter" pitchFamily="34" charset="0"/>
                <a:ea typeface="Inter" pitchFamily="34" charset="-122"/>
                <a:cs typeface="Inter" pitchFamily="34" charset="-120"/>
              </a:rPr>
              <a:t>What and why: scenarios and acceptance criteria.</a:t>
            </a:r>
            <a:endParaRPr lang="en-US" sz="1400" dirty="0"/>
          </a:p>
        </p:txBody>
      </p:sp>
      <p:sp>
        <p:nvSpPr>
          <p:cNvPr id="8" name="Text 6"/>
          <p:cNvSpPr/>
          <p:nvPr/>
        </p:nvSpPr>
        <p:spPr>
          <a:xfrm>
            <a:off x="3175000" y="2779396"/>
            <a:ext cx="365760"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61F"/>
                </a:solidFill>
                <a:latin typeface="Inter" pitchFamily="34" charset="0"/>
                <a:ea typeface="Inter" pitchFamily="34" charset="-122"/>
                <a:cs typeface="Inter" pitchFamily="34" charset="-120"/>
              </a:rPr>
              <a:t>→</a:t>
            </a:r>
            <a:endParaRPr lang="en-US" sz="2400" dirty="0"/>
          </a:p>
        </p:txBody>
      </p:sp>
      <p:sp>
        <p:nvSpPr>
          <p:cNvPr id="9" name="Shape 7"/>
          <p:cNvSpPr/>
          <p:nvPr/>
        </p:nvSpPr>
        <p:spPr>
          <a:xfrm>
            <a:off x="3584575" y="1989457"/>
            <a:ext cx="2254250" cy="2006600"/>
          </a:xfrm>
          <a:prstGeom prst="roundRect">
            <a:avLst>
              <a:gd name="adj" fmla="val 6171"/>
            </a:avLst>
          </a:prstGeom>
          <a:solidFill>
            <a:srgbClr val="FBF9F5"/>
          </a:solidFill>
          <a:ln w="6350">
            <a:solidFill>
              <a:srgbClr val="DDD6C8"/>
            </a:solidFill>
            <a:prstDash val="solid"/>
          </a:ln>
        </p:spPr>
      </p:sp>
      <p:sp>
        <p:nvSpPr>
          <p:cNvPr id="10" name="Text 8"/>
          <p:cNvSpPr/>
          <p:nvPr/>
        </p:nvSpPr>
        <p:spPr>
          <a:xfrm>
            <a:off x="3840480" y="2245361"/>
            <a:ext cx="1794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F"/>
                </a:solidFill>
                <a:latin typeface="Inter" pitchFamily="34" charset="0"/>
                <a:ea typeface="Inter" pitchFamily="34" charset="-122"/>
                <a:cs typeface="Inter" pitchFamily="34" charset="-120"/>
              </a:rPr>
              <a:t>02</a:t>
            </a:r>
            <a:endParaRPr lang="en-US" sz="1200" dirty="0"/>
          </a:p>
        </p:txBody>
      </p:sp>
      <p:sp>
        <p:nvSpPr>
          <p:cNvPr id="11" name="Text 9"/>
          <p:cNvSpPr/>
          <p:nvPr/>
        </p:nvSpPr>
        <p:spPr>
          <a:xfrm>
            <a:off x="3840480" y="2560321"/>
            <a:ext cx="17947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Plan</a:t>
            </a:r>
            <a:endParaRPr lang="en-US" sz="2000" dirty="0"/>
          </a:p>
        </p:txBody>
      </p:sp>
      <p:sp>
        <p:nvSpPr>
          <p:cNvPr id="12" name="Text 10"/>
          <p:cNvSpPr/>
          <p:nvPr/>
        </p:nvSpPr>
        <p:spPr>
          <a:xfrm>
            <a:off x="3840480" y="2966721"/>
            <a:ext cx="1794713"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E23"/>
                </a:solidFill>
                <a:latin typeface="Inter" pitchFamily="34" charset="0"/>
                <a:ea typeface="Inter" pitchFamily="34" charset="-122"/>
                <a:cs typeface="Inter" pitchFamily="34" charset="-120"/>
              </a:rPr>
              <a:t>How: stack, architecture, constraints.</a:t>
            </a:r>
            <a:endParaRPr lang="en-US" sz="1400" dirty="0"/>
          </a:p>
        </p:txBody>
      </p:sp>
      <p:sp>
        <p:nvSpPr>
          <p:cNvPr id="13" name="Text 11"/>
          <p:cNvSpPr/>
          <p:nvPr/>
        </p:nvSpPr>
        <p:spPr>
          <a:xfrm>
            <a:off x="5943600" y="2779396"/>
            <a:ext cx="365760"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61F"/>
                </a:solidFill>
                <a:latin typeface="Inter" pitchFamily="34" charset="0"/>
                <a:ea typeface="Inter" pitchFamily="34" charset="-122"/>
                <a:cs typeface="Inter" pitchFamily="34" charset="-120"/>
              </a:rPr>
              <a:t>→</a:t>
            </a:r>
            <a:endParaRPr lang="en-US" sz="2400" dirty="0"/>
          </a:p>
        </p:txBody>
      </p:sp>
      <p:sp>
        <p:nvSpPr>
          <p:cNvPr id="14" name="Shape 12"/>
          <p:cNvSpPr/>
          <p:nvPr/>
        </p:nvSpPr>
        <p:spPr>
          <a:xfrm>
            <a:off x="6353175" y="1989457"/>
            <a:ext cx="2254250" cy="2006600"/>
          </a:xfrm>
          <a:prstGeom prst="roundRect">
            <a:avLst>
              <a:gd name="adj" fmla="val 6171"/>
            </a:avLst>
          </a:prstGeom>
          <a:solidFill>
            <a:srgbClr val="FBF9F5"/>
          </a:solidFill>
          <a:ln w="6350">
            <a:solidFill>
              <a:srgbClr val="DDD6C8"/>
            </a:solidFill>
            <a:prstDash val="solid"/>
          </a:ln>
        </p:spPr>
      </p:sp>
      <p:sp>
        <p:nvSpPr>
          <p:cNvPr id="15" name="Text 13"/>
          <p:cNvSpPr/>
          <p:nvPr/>
        </p:nvSpPr>
        <p:spPr>
          <a:xfrm>
            <a:off x="6609080" y="2245361"/>
            <a:ext cx="1794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F"/>
                </a:solidFill>
                <a:latin typeface="Inter" pitchFamily="34" charset="0"/>
                <a:ea typeface="Inter" pitchFamily="34" charset="-122"/>
                <a:cs typeface="Inter" pitchFamily="34" charset="-120"/>
              </a:rPr>
              <a:t>03</a:t>
            </a:r>
            <a:endParaRPr lang="en-US" sz="1200" dirty="0"/>
          </a:p>
        </p:txBody>
      </p:sp>
      <p:sp>
        <p:nvSpPr>
          <p:cNvPr id="16" name="Text 14"/>
          <p:cNvSpPr/>
          <p:nvPr/>
        </p:nvSpPr>
        <p:spPr>
          <a:xfrm>
            <a:off x="6609080" y="2560321"/>
            <a:ext cx="17947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Tasks</a:t>
            </a:r>
            <a:endParaRPr lang="en-US" sz="2000" dirty="0"/>
          </a:p>
        </p:txBody>
      </p:sp>
      <p:sp>
        <p:nvSpPr>
          <p:cNvPr id="17" name="Text 15"/>
          <p:cNvSpPr/>
          <p:nvPr/>
        </p:nvSpPr>
        <p:spPr>
          <a:xfrm>
            <a:off x="6609080" y="2966721"/>
            <a:ext cx="1794713"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E23"/>
                </a:solidFill>
                <a:latin typeface="Inter" pitchFamily="34" charset="0"/>
                <a:ea typeface="Inter" pitchFamily="34" charset="-122"/>
                <a:cs typeface="Inter" pitchFamily="34" charset="-120"/>
              </a:rPr>
              <a:t>Small, verifiable work items.</a:t>
            </a:r>
            <a:endParaRPr lang="en-US" sz="1400" dirty="0"/>
          </a:p>
        </p:txBody>
      </p:sp>
      <p:sp>
        <p:nvSpPr>
          <p:cNvPr id="18" name="Text 16"/>
          <p:cNvSpPr/>
          <p:nvPr/>
        </p:nvSpPr>
        <p:spPr>
          <a:xfrm>
            <a:off x="8712200" y="2779396"/>
            <a:ext cx="365760"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61F"/>
                </a:solidFill>
                <a:latin typeface="Inter" pitchFamily="34" charset="0"/>
                <a:ea typeface="Inter" pitchFamily="34" charset="-122"/>
                <a:cs typeface="Inter" pitchFamily="34" charset="-120"/>
              </a:rPr>
              <a:t>→</a:t>
            </a:r>
            <a:endParaRPr lang="en-US" sz="2400" dirty="0"/>
          </a:p>
        </p:txBody>
      </p:sp>
      <p:sp>
        <p:nvSpPr>
          <p:cNvPr id="19" name="Shape 17"/>
          <p:cNvSpPr/>
          <p:nvPr/>
        </p:nvSpPr>
        <p:spPr>
          <a:xfrm>
            <a:off x="9121775" y="1989457"/>
            <a:ext cx="2254250" cy="2006600"/>
          </a:xfrm>
          <a:prstGeom prst="roundRect">
            <a:avLst>
              <a:gd name="adj" fmla="val 6171"/>
            </a:avLst>
          </a:prstGeom>
          <a:solidFill>
            <a:srgbClr val="FBF9F5"/>
          </a:solidFill>
          <a:ln w="6350">
            <a:solidFill>
              <a:srgbClr val="DDD6C8"/>
            </a:solidFill>
            <a:prstDash val="solid"/>
          </a:ln>
        </p:spPr>
      </p:sp>
      <p:sp>
        <p:nvSpPr>
          <p:cNvPr id="20" name="Text 18"/>
          <p:cNvSpPr/>
          <p:nvPr/>
        </p:nvSpPr>
        <p:spPr>
          <a:xfrm>
            <a:off x="9377680" y="2245361"/>
            <a:ext cx="17947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F"/>
                </a:solidFill>
                <a:latin typeface="Inter" pitchFamily="34" charset="0"/>
                <a:ea typeface="Inter" pitchFamily="34" charset="-122"/>
                <a:cs typeface="Inter" pitchFamily="34" charset="-120"/>
              </a:rPr>
              <a:t>04</a:t>
            </a:r>
            <a:endParaRPr lang="en-US" sz="1200" dirty="0"/>
          </a:p>
        </p:txBody>
      </p:sp>
      <p:sp>
        <p:nvSpPr>
          <p:cNvPr id="21" name="Text 19"/>
          <p:cNvSpPr/>
          <p:nvPr/>
        </p:nvSpPr>
        <p:spPr>
          <a:xfrm>
            <a:off x="9377680" y="2560321"/>
            <a:ext cx="179471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Implement</a:t>
            </a:r>
            <a:endParaRPr lang="en-US" sz="2000" dirty="0"/>
          </a:p>
        </p:txBody>
      </p:sp>
      <p:sp>
        <p:nvSpPr>
          <p:cNvPr id="22" name="Text 20"/>
          <p:cNvSpPr/>
          <p:nvPr/>
        </p:nvSpPr>
        <p:spPr>
          <a:xfrm>
            <a:off x="9377680" y="2966721"/>
            <a:ext cx="1794713"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1E23"/>
                </a:solidFill>
                <a:latin typeface="Inter" pitchFamily="34" charset="0"/>
                <a:ea typeface="Inter" pitchFamily="34" charset="-122"/>
                <a:cs typeface="Inter" pitchFamily="34" charset="-120"/>
              </a:rPr>
              <a:t>Agent builds task by task against the spec.</a:t>
            </a:r>
            <a:endParaRPr lang="en-US" sz="1400" dirty="0"/>
          </a:p>
        </p:txBody>
      </p:sp>
      <p:sp>
        <p:nvSpPr>
          <p:cNvPr id="23" name="Text 21"/>
          <p:cNvSpPr/>
          <p:nvPr/>
        </p:nvSpPr>
        <p:spPr>
          <a:xfrm>
            <a:off x="812800" y="4354832"/>
            <a:ext cx="719455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B1E23"/>
                </a:solidFill>
                <a:latin typeface="Inter" pitchFamily="34" charset="0"/>
                <a:ea typeface="Inter" pitchFamily="34" charset="-122"/>
                <a:cs typeface="Inter" pitchFamily="34" charset="-120"/>
              </a:rPr>
              <a:t>The spec is the </a:t>
            </a:r>
            <a:r>
              <a:rPr lang="en-US" sz="1600" b="1" dirty="0">
                <a:solidFill>
                  <a:srgbClr val="1B1E23"/>
                </a:solidFill>
                <a:latin typeface="Inter" pitchFamily="34" charset="0"/>
                <a:ea typeface="Inter" pitchFamily="34" charset="-122"/>
                <a:cs typeface="Inter" pitchFamily="34" charset="-120"/>
              </a:rPr>
              <a:t>source of truth</a:t>
            </a:r>
            <a:r>
              <a:rPr lang="en-US" sz="1600" dirty="0">
                <a:solidFill>
                  <a:srgbClr val="1B1E23"/>
                </a:solidFill>
                <a:latin typeface="Inter" pitchFamily="34" charset="0"/>
                <a:ea typeface="Inter" pitchFamily="34" charset="-122"/>
                <a:cs typeface="Inter" pitchFamily="34" charset="-120"/>
              </a:rPr>
              <a:t>. Requirements change? Edit the spec first, then update downstream.</a:t>
            </a:r>
            <a:endParaRPr lang="en-US" sz="1600" dirty="0"/>
          </a:p>
        </p:txBody>
      </p:sp>
      <p:sp>
        <p:nvSpPr>
          <p:cNvPr id="24" name="Text 22"/>
          <p:cNvSpPr/>
          <p:nvPr/>
        </p:nvSpPr>
        <p:spPr>
          <a:xfrm>
            <a:off x="8204200" y="4704714"/>
            <a:ext cx="3270250"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75C64"/>
                </a:solidFill>
                <a:latin typeface="Inter" pitchFamily="34" charset="0"/>
                <a:ea typeface="Inter" pitchFamily="34" charset="-122"/>
                <a:cs typeface="Inter" pitchFamily="34" charset="-120"/>
              </a:rPr>
              <a:t>Tools: GitHub Spec Kit, Kiro, Tessl</a:t>
            </a:r>
            <a:endParaRPr lang="en-US" sz="1300" dirty="0"/>
          </a:p>
        </p:txBody>
      </p:sp>
      <p:sp>
        <p:nvSpPr>
          <p:cNvPr id="25" name="Text 2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Working with AI agents · Dev retreat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61F"/>
                </a:solidFill>
                <a:latin typeface="Inter" pitchFamily="34" charset="0"/>
                <a:ea typeface="Inter" pitchFamily="34" charset="-122"/>
                <a:cs typeface="Inter" pitchFamily="34" charset="-120"/>
              </a:rPr>
              <a:t>SDD AND THE SDLC</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E23"/>
                </a:solidFill>
                <a:latin typeface="Space Grotesk" pitchFamily="34" charset="0"/>
                <a:ea typeface="Space Grotesk" pitchFamily="34" charset="-122"/>
                <a:cs typeface="Space Grotesk" pitchFamily="34" charset="-120"/>
              </a:rPr>
              <a:t>SDD is a way to run the SDLC</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96442"/>
          <a:ext cx="10556240" cy="3423920"/>
        </p:xfrm>
        <a:graphic>
          <a:graphicData uri="http://schemas.openxmlformats.org/drawingml/2006/table">
            <a:tbl>
              <a:tblPr/>
              <a:tblGrid>
                <a:gridCol w="5278120"/>
                <a:gridCol w="5278120"/>
              </a:tblGrid>
              <a:tr h="523240">
                <a:tc>
                  <a:txBody>
                    <a:bodyPr/>
                    <a:lstStyle/>
                    <a:p>
                      <a:pPr indent="0" marL="0">
                        <a:lnSpc>
                          <a:spcPts val="2240"/>
                        </a:lnSpc>
                        <a:buNone/>
                      </a:pPr>
                      <a:r>
                        <a:rPr lang="en-US" sz="1600" b="1" dirty="0">
                          <a:solidFill>
                            <a:srgbClr val="A8461F"/>
                          </a:solidFill>
                          <a:latin typeface="Inter" pitchFamily="34" charset="0"/>
                          <a:ea typeface="Inter" pitchFamily="34" charset="-122"/>
                          <a:cs typeface="Inter" pitchFamily="34" charset="-120"/>
                        </a:rPr>
                        <a:t>SDLC PHASE</a:t>
                      </a:r>
                      <a:endParaRPr lang="en-US" sz="1600" dirty="0">
                        <a:latin typeface="Inter" charset="0"/>
                        <a:ea typeface="Inter" charset="0"/>
                        <a:cs typeface="Inter"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240"/>
                        </a:lnSpc>
                        <a:buNone/>
                      </a:pPr>
                      <a:r>
                        <a:rPr lang="en-US" sz="1600" b="1" dirty="0">
                          <a:solidFill>
                            <a:srgbClr val="A8461F"/>
                          </a:solidFill>
                          <a:latin typeface="Inter" pitchFamily="34" charset="0"/>
                          <a:ea typeface="Inter" pitchFamily="34" charset="-122"/>
                          <a:cs typeface="Inter" pitchFamily="34" charset="-120"/>
                        </a:rPr>
                        <a:t>ROLE IN SPEC-DRIVEN DEVELOPMENT</a:t>
                      </a:r>
                      <a:endParaRPr lang="en-US" sz="1600" dirty="0">
                        <a:latin typeface="Inter" charset="0"/>
                        <a:ea typeface="Inter" charset="0"/>
                        <a:cs typeface="Inter" charset="0"/>
                      </a:endParaRPr>
                    </a:p>
                  </a:txBody>
                  <a:tcPr marL="152400" marR="152400" marT="114300" marB="1143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523240">
                <a:tc>
                  <a:txBody>
                    <a:bodyPr/>
                    <a:lstStyle/>
                    <a:p>
                      <a:pPr indent="0" marL="0">
                        <a:lnSpc>
                          <a:spcPts val="2240"/>
                        </a:lnSpc>
                        <a:buNone/>
                      </a:pPr>
                      <a:r>
                        <a:rPr lang="en-US" sz="1600" dirty="0">
                          <a:solidFill>
                            <a:srgbClr val="1B1E23"/>
                          </a:solidFill>
                          <a:latin typeface="Inter" pitchFamily="34" charset="0"/>
                          <a:ea typeface="Inter" pitchFamily="34" charset="-122"/>
                          <a:cs typeface="Inter" pitchFamily="34" charset="-120"/>
                        </a:rPr>
                        <a:t>Requirements</a:t>
                      </a:r>
                      <a:endParaRPr lang="en-US" sz="1600" dirty="0">
                        <a:latin typeface="Inter" charset="0"/>
                        <a:ea typeface="Inter" charset="0"/>
                        <a:cs typeface="Inter"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240"/>
                        </a:lnSpc>
                        <a:buNone/>
                      </a:pPr>
                      <a:r>
                        <a:rPr lang="en-US" sz="1600" dirty="0">
                          <a:solidFill>
                            <a:srgbClr val="1B1E23"/>
                          </a:solidFill>
                          <a:latin typeface="Inter" pitchFamily="34" charset="0"/>
                          <a:ea typeface="Inter" pitchFamily="34" charset="-122"/>
                          <a:cs typeface="Inter" pitchFamily="34" charset="-120"/>
                        </a:rPr>
                        <a:t>Become the spec: the central, living artifact</a:t>
                      </a:r>
                      <a:endParaRPr lang="en-US" sz="1600" dirty="0">
                        <a:latin typeface="Inter" charset="0"/>
                        <a:ea typeface="Inter" charset="0"/>
                        <a:cs typeface="Inter"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23240">
                <a:tc>
                  <a:txBody>
                    <a:bodyPr/>
                    <a:lstStyle/>
                    <a:p>
                      <a:pPr indent="0" marL="0">
                        <a:lnSpc>
                          <a:spcPts val="2240"/>
                        </a:lnSpc>
                        <a:buNone/>
                      </a:pPr>
                      <a:r>
                        <a:rPr lang="en-US" sz="1600" dirty="0">
                          <a:solidFill>
                            <a:srgbClr val="1B1E23"/>
                          </a:solidFill>
                          <a:latin typeface="Inter" pitchFamily="34" charset="0"/>
                          <a:ea typeface="Inter" pitchFamily="34" charset="-122"/>
                          <a:cs typeface="Inter" pitchFamily="34" charset="-120"/>
                        </a:rPr>
                        <a:t>Design</a:t>
                      </a:r>
                      <a:endParaRPr lang="en-US" sz="1600" dirty="0">
                        <a:latin typeface="Inter" charset="0"/>
                        <a:ea typeface="Inter" charset="0"/>
                        <a:cs typeface="Inter"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240"/>
                        </a:lnSpc>
                        <a:buNone/>
                      </a:pPr>
                      <a:r>
                        <a:rPr lang="en-US" sz="1600" dirty="0">
                          <a:solidFill>
                            <a:srgbClr val="1B1E23"/>
                          </a:solidFill>
                          <a:latin typeface="Inter" pitchFamily="34" charset="0"/>
                          <a:ea typeface="Inter" pitchFamily="34" charset="-122"/>
                          <a:cs typeface="Inter" pitchFamily="34" charset="-120"/>
                        </a:rPr>
                        <a:t>The plan, derived explicitly from the spec</a:t>
                      </a:r>
                      <a:endParaRPr lang="en-US" sz="1600" dirty="0">
                        <a:latin typeface="Inter" charset="0"/>
                        <a:ea typeface="Inter" charset="0"/>
                        <a:cs typeface="Inter"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807720">
                <a:tc>
                  <a:txBody>
                    <a:bodyPr/>
                    <a:lstStyle/>
                    <a:p>
                      <a:pPr indent="0" marL="0">
                        <a:lnSpc>
                          <a:spcPts val="2240"/>
                        </a:lnSpc>
                        <a:buNone/>
                      </a:pPr>
                      <a:r>
                        <a:rPr lang="en-US" sz="1600" dirty="0">
                          <a:solidFill>
                            <a:srgbClr val="1B1E23"/>
                          </a:solidFill>
                          <a:latin typeface="Inter" pitchFamily="34" charset="0"/>
                          <a:ea typeface="Inter" pitchFamily="34" charset="-122"/>
                          <a:cs typeface="Inter" pitchFamily="34" charset="-120"/>
                        </a:rPr>
                        <a:t>Implementation</a:t>
                      </a:r>
                      <a:endParaRPr lang="en-US" sz="1600" dirty="0">
                        <a:latin typeface="Inter" charset="0"/>
                        <a:ea typeface="Inter" charset="0"/>
                        <a:cs typeface="Inter"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240"/>
                        </a:lnSpc>
                        <a:buNone/>
                      </a:pPr>
                      <a:r>
                        <a:rPr lang="en-US" sz="1600" dirty="0">
                          <a:solidFill>
                            <a:srgbClr val="1B1E23"/>
                          </a:solidFill>
                          <a:latin typeface="Inter" pitchFamily="34" charset="0"/>
                          <a:ea typeface="Inter" pitchFamily="34" charset="-122"/>
                          <a:cs typeface="Inter" pitchFamily="34" charset="-120"/>
                        </a:rPr>
                        <a:t>Written to satisfy the spec, often by an agent, task by task</a:t>
                      </a:r>
                      <a:endParaRPr lang="en-US" sz="1600" dirty="0">
                        <a:latin typeface="Inter" charset="0"/>
                        <a:ea typeface="Inter" charset="0"/>
                        <a:cs typeface="Inter"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23240">
                <a:tc>
                  <a:txBody>
                    <a:bodyPr/>
                    <a:lstStyle/>
                    <a:p>
                      <a:pPr indent="0" marL="0">
                        <a:lnSpc>
                          <a:spcPts val="2240"/>
                        </a:lnSpc>
                        <a:buNone/>
                      </a:pPr>
                      <a:r>
                        <a:rPr lang="en-US" sz="1600" dirty="0">
                          <a:solidFill>
                            <a:srgbClr val="1B1E23"/>
                          </a:solidFill>
                          <a:latin typeface="Inter" pitchFamily="34" charset="0"/>
                          <a:ea typeface="Inter" pitchFamily="34" charset="-122"/>
                          <a:cs typeface="Inter" pitchFamily="34" charset="-120"/>
                        </a:rPr>
                        <a:t>Testing</a:t>
                      </a:r>
                      <a:endParaRPr lang="en-US" sz="1600" dirty="0">
                        <a:latin typeface="Inter" charset="0"/>
                        <a:ea typeface="Inter" charset="0"/>
                        <a:cs typeface="Inter"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240"/>
                        </a:lnSpc>
                        <a:buNone/>
                      </a:pPr>
                      <a:r>
                        <a:rPr lang="en-US" sz="1600" dirty="0">
                          <a:solidFill>
                            <a:srgbClr val="1B1E23"/>
                          </a:solidFill>
                          <a:latin typeface="Inter" pitchFamily="34" charset="0"/>
                          <a:ea typeface="Inter" pitchFamily="34" charset="-122"/>
                          <a:cs typeface="Inter" pitchFamily="34" charset="-120"/>
                        </a:rPr>
                        <a:t>Acceptance criteria in the spec become the tests</a:t>
                      </a:r>
                      <a:endParaRPr lang="en-US" sz="1600" dirty="0">
                        <a:latin typeface="Inter" charset="0"/>
                        <a:ea typeface="Inter" charset="0"/>
                        <a:cs typeface="Inter"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23240">
                <a:tc>
                  <a:txBody>
                    <a:bodyPr/>
                    <a:lstStyle/>
                    <a:p>
                      <a:pPr indent="0" marL="0">
                        <a:lnSpc>
                          <a:spcPts val="2240"/>
                        </a:lnSpc>
                        <a:buNone/>
                      </a:pPr>
                      <a:r>
                        <a:rPr lang="en-US" sz="1600" dirty="0">
                          <a:solidFill>
                            <a:srgbClr val="1B1E23"/>
                          </a:solidFill>
                          <a:latin typeface="Inter" pitchFamily="34" charset="0"/>
                          <a:ea typeface="Inter" pitchFamily="34" charset="-122"/>
                          <a:cs typeface="Inter" pitchFamily="34" charset="-120"/>
                        </a:rPr>
                        <a:t>Maintenance</a:t>
                      </a:r>
                      <a:endParaRPr lang="en-US" sz="1600" dirty="0">
                        <a:latin typeface="Inter" charset="0"/>
                        <a:ea typeface="Inter" charset="0"/>
                        <a:cs typeface="Inter"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240"/>
                        </a:lnSpc>
                        <a:buNone/>
                      </a:pPr>
                      <a:r>
                        <a:rPr lang="en-US" sz="1600" dirty="0">
                          <a:solidFill>
                            <a:srgbClr val="1B1E23"/>
                          </a:solidFill>
                          <a:latin typeface="Inter" pitchFamily="34" charset="0"/>
                          <a:ea typeface="Inter" pitchFamily="34" charset="-122"/>
                          <a:cs typeface="Inter" pitchFamily="34" charset="-120"/>
                        </a:rPr>
                        <a:t>Changes start in the spec and flow downstream</a:t>
                      </a:r>
                      <a:endParaRPr lang="en-US" sz="1600" dirty="0">
                        <a:latin typeface="Inter" charset="0"/>
                        <a:ea typeface="Inter" charset="0"/>
                        <a:cs typeface="Inter"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Working with AI agents · Dev retreat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61F"/>
                </a:solidFill>
                <a:latin typeface="Inter" pitchFamily="34" charset="0"/>
                <a:ea typeface="Inter" pitchFamily="34" charset="-122"/>
                <a:cs typeface="Inter" pitchFamily="34" charset="-120"/>
              </a:rPr>
              <a:t>FOUNDATIONS</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E23"/>
                </a:solidFill>
                <a:latin typeface="Space Grotesk" pitchFamily="34" charset="0"/>
                <a:ea typeface="Space Grotesk" pitchFamily="34" charset="-122"/>
                <a:cs typeface="Space Grotesk" pitchFamily="34" charset="-120"/>
              </a:rPr>
              <a:t>What makes every method work better</a:t>
            </a:r>
            <a:endParaRPr lang="en-US" sz="3600" dirty="0"/>
          </a:p>
        </p:txBody>
      </p:sp>
      <p:sp>
        <p:nvSpPr>
          <p:cNvPr id="4" name="Shape 2"/>
          <p:cNvSpPr/>
          <p:nvPr/>
        </p:nvSpPr>
        <p:spPr>
          <a:xfrm>
            <a:off x="815975" y="1989454"/>
            <a:ext cx="5175250" cy="2516505"/>
          </a:xfrm>
          <a:prstGeom prst="roundRect">
            <a:avLst>
              <a:gd name="adj" fmla="val 4921"/>
            </a:avLst>
          </a:prstGeom>
          <a:solidFill>
            <a:srgbClr val="FBF9F5"/>
          </a:solidFill>
          <a:ln w="6350">
            <a:solidFill>
              <a:srgbClr val="DDD6C8"/>
            </a:solidFill>
            <a:prstDash val="solid"/>
          </a:ln>
        </p:spPr>
      </p:sp>
      <p:sp>
        <p:nvSpPr>
          <p:cNvPr id="5" name="Text 3"/>
          <p:cNvSpPr/>
          <p:nvPr/>
        </p:nvSpPr>
        <p:spPr>
          <a:xfrm>
            <a:off x="1122680" y="2296164"/>
            <a:ext cx="46986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Context engineering</a:t>
            </a:r>
            <a:endParaRPr lang="en-US" sz="2000" dirty="0"/>
          </a:p>
        </p:txBody>
      </p:sp>
      <p:sp>
        <p:nvSpPr>
          <p:cNvPr id="6" name="Text 4"/>
          <p:cNvSpPr/>
          <p:nvPr/>
        </p:nvSpPr>
        <p:spPr>
          <a:xfrm>
            <a:off x="1122680" y="2727964"/>
            <a:ext cx="4698695"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1E23"/>
                </a:solidFill>
                <a:latin typeface="Inter" pitchFamily="34" charset="0"/>
                <a:ea typeface="Inter" pitchFamily="34" charset="-122"/>
                <a:cs typeface="Inter" pitchFamily="34" charset="-120"/>
              </a:rPr>
              <a:t>Curate what the agent sees: repo instruction files (CLAUDE.md, AGENTS.md), architecture notes, coding standards, docs.</a:t>
            </a:r>
            <a:endParaRPr lang="en-US" sz="1500" dirty="0"/>
          </a:p>
        </p:txBody>
      </p:sp>
      <p:sp>
        <p:nvSpPr>
          <p:cNvPr id="7" name="Text 5"/>
          <p:cNvSpPr/>
          <p:nvPr/>
        </p:nvSpPr>
        <p:spPr>
          <a:xfrm>
            <a:off x="1122680" y="3683639"/>
            <a:ext cx="4698695" cy="54102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C5A88"/>
                </a:solidFill>
                <a:latin typeface="Inter" pitchFamily="34" charset="0"/>
                <a:ea typeface="Inter" pitchFamily="34" charset="-122"/>
                <a:cs typeface="Inter" pitchFamily="34" charset="-120"/>
              </a:rPr>
              <a:t>Payoff</a:t>
            </a:r>
            <a:r>
              <a:rPr lang="en-US" sz="1400" dirty="0">
                <a:solidFill>
                  <a:srgbClr val="1B1E23"/>
                </a:solidFill>
                <a:latin typeface="Inter" pitchFamily="34" charset="0"/>
                <a:ea typeface="Inter" pitchFamily="34" charset="-122"/>
                <a:cs typeface="Inter" pitchFamily="34" charset="-120"/>
              </a:rPr>
              <a:t> fewer repeated explanations, more consistent output</a:t>
            </a:r>
            <a:endParaRPr lang="en-US" sz="1400" dirty="0"/>
          </a:p>
        </p:txBody>
      </p:sp>
      <p:sp>
        <p:nvSpPr>
          <p:cNvPr id="8" name="Shape 6"/>
          <p:cNvSpPr/>
          <p:nvPr/>
        </p:nvSpPr>
        <p:spPr>
          <a:xfrm>
            <a:off x="6200775" y="1989454"/>
            <a:ext cx="5175250" cy="2516505"/>
          </a:xfrm>
          <a:prstGeom prst="roundRect">
            <a:avLst>
              <a:gd name="adj" fmla="val 4921"/>
            </a:avLst>
          </a:prstGeom>
          <a:solidFill>
            <a:srgbClr val="FBF9F5"/>
          </a:solidFill>
          <a:ln w="6350">
            <a:solidFill>
              <a:srgbClr val="DDD6C8"/>
            </a:solidFill>
            <a:prstDash val="solid"/>
          </a:ln>
        </p:spPr>
      </p:sp>
      <p:sp>
        <p:nvSpPr>
          <p:cNvPr id="9" name="Text 7"/>
          <p:cNvSpPr/>
          <p:nvPr/>
        </p:nvSpPr>
        <p:spPr>
          <a:xfrm>
            <a:off x="6507480" y="2296164"/>
            <a:ext cx="46986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Eval-driven development</a:t>
            </a:r>
            <a:endParaRPr lang="en-US" sz="2000" dirty="0"/>
          </a:p>
        </p:txBody>
      </p:sp>
      <p:sp>
        <p:nvSpPr>
          <p:cNvPr id="10" name="Text 8"/>
          <p:cNvSpPr/>
          <p:nvPr/>
        </p:nvSpPr>
        <p:spPr>
          <a:xfrm>
            <a:off x="6507480" y="2727964"/>
            <a:ext cx="469869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1E23"/>
                </a:solidFill>
                <a:latin typeface="Inter" pitchFamily="34" charset="0"/>
                <a:ea typeface="Inter" pitchFamily="34" charset="-122"/>
                <a:cs typeface="Inter" pitchFamily="34" charset="-120"/>
              </a:rPr>
              <a:t>For AI-powered features: define graded evaluation sets before changing prompts or models.</a:t>
            </a:r>
            <a:endParaRPr lang="en-US" sz="1500" dirty="0"/>
          </a:p>
        </p:txBody>
      </p:sp>
      <p:sp>
        <p:nvSpPr>
          <p:cNvPr id="11" name="Text 9"/>
          <p:cNvSpPr/>
          <p:nvPr/>
        </p:nvSpPr>
        <p:spPr>
          <a:xfrm>
            <a:off x="6507480" y="3407414"/>
            <a:ext cx="4865370"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C5A88"/>
                </a:solidFill>
                <a:latin typeface="Inter" pitchFamily="34" charset="0"/>
                <a:ea typeface="Inter" pitchFamily="34" charset="-122"/>
                <a:cs typeface="Inter" pitchFamily="34" charset="-120"/>
              </a:rPr>
              <a:t>Payoff</a:t>
            </a:r>
            <a:r>
              <a:rPr lang="en-US" sz="1400" dirty="0">
                <a:solidFill>
                  <a:srgbClr val="1B1E23"/>
                </a:solidFill>
                <a:latin typeface="Inter" pitchFamily="34" charset="0"/>
                <a:ea typeface="Inter" pitchFamily="34" charset="-122"/>
                <a:cs typeface="Inter" pitchFamily="34" charset="-120"/>
              </a:rPr>
              <a:t> the eval score plays the role tests play in TDD</a:t>
            </a:r>
            <a:endParaRPr lang="en-US" sz="1400" dirty="0"/>
          </a:p>
        </p:txBody>
      </p:sp>
      <p:sp>
        <p:nvSpPr>
          <p:cNvPr id="12"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Working with AI agents · Dev retreat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61F"/>
                </a:solidFill>
                <a:latin typeface="Inter" pitchFamily="34" charset="0"/>
                <a:ea typeface="Inter" pitchFamily="34" charset="-122"/>
                <a:cs typeface="Inter" pitchFamily="34" charset="-120"/>
              </a:rPr>
              <a:t>SCALING OUT</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E23"/>
                </a:solidFill>
                <a:latin typeface="Space Grotesk" pitchFamily="34" charset="0"/>
                <a:ea typeface="Space Grotesk" pitchFamily="34" charset="-122"/>
                <a:cs typeface="Space Grotesk" pitchFamily="34" charset="-120"/>
              </a:rPr>
              <a:t>When agents do more of the work</a:t>
            </a:r>
            <a:endParaRPr lang="en-US" sz="3600" dirty="0"/>
          </a:p>
        </p:txBody>
      </p:sp>
      <p:sp>
        <p:nvSpPr>
          <p:cNvPr id="4" name="Shape 2"/>
          <p:cNvSpPr/>
          <p:nvPr/>
        </p:nvSpPr>
        <p:spPr>
          <a:xfrm>
            <a:off x="815975" y="1989454"/>
            <a:ext cx="5175250" cy="2258695"/>
          </a:xfrm>
          <a:prstGeom prst="roundRect">
            <a:avLst>
              <a:gd name="adj" fmla="val 5482"/>
            </a:avLst>
          </a:prstGeom>
          <a:solidFill>
            <a:srgbClr val="FBF9F5"/>
          </a:solidFill>
          <a:ln w="6350">
            <a:solidFill>
              <a:srgbClr val="DDD6C8"/>
            </a:solidFill>
            <a:prstDash val="solid"/>
          </a:ln>
        </p:spPr>
      </p:sp>
      <p:sp>
        <p:nvSpPr>
          <p:cNvPr id="5" name="Text 3"/>
          <p:cNvSpPr/>
          <p:nvPr/>
        </p:nvSpPr>
        <p:spPr>
          <a:xfrm>
            <a:off x="1122680" y="2296164"/>
            <a:ext cx="46986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Multi-agent roles</a:t>
            </a:r>
            <a:endParaRPr lang="en-US" sz="2000" dirty="0"/>
          </a:p>
        </p:txBody>
      </p:sp>
      <p:sp>
        <p:nvSpPr>
          <p:cNvPr id="6" name="Text 4"/>
          <p:cNvSpPr/>
          <p:nvPr/>
        </p:nvSpPr>
        <p:spPr>
          <a:xfrm>
            <a:off x="1122680" y="2727964"/>
            <a:ext cx="4698695"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1E23"/>
                </a:solidFill>
                <a:latin typeface="Inter" pitchFamily="34" charset="0"/>
                <a:ea typeface="Inter" pitchFamily="34" charset="-122"/>
                <a:cs typeface="Inter" pitchFamily="34" charset="-120"/>
              </a:rPr>
              <a:t>Split the lifecycle across agent personas: analyst, PM, architect, developer, QA. Each hands an artifact to the next.</a:t>
            </a:r>
            <a:endParaRPr lang="en-US" sz="1500" dirty="0"/>
          </a:p>
        </p:txBody>
      </p:sp>
      <p:sp>
        <p:nvSpPr>
          <p:cNvPr id="7" name="Text 5"/>
          <p:cNvSpPr/>
          <p:nvPr/>
        </p:nvSpPr>
        <p:spPr>
          <a:xfrm>
            <a:off x="1122680" y="3683639"/>
            <a:ext cx="4698695"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C5A88"/>
                </a:solidFill>
                <a:latin typeface="Inter" pitchFamily="34" charset="0"/>
                <a:ea typeface="Inter" pitchFamily="34" charset="-122"/>
                <a:cs typeface="Inter" pitchFamily="34" charset="-120"/>
              </a:rPr>
              <a:t>Example</a:t>
            </a:r>
            <a:r>
              <a:rPr lang="en-US" sz="1400" dirty="0">
                <a:solidFill>
                  <a:srgbClr val="1B1E23"/>
                </a:solidFill>
                <a:latin typeface="Inter" pitchFamily="34" charset="0"/>
                <a:ea typeface="Inter" pitchFamily="34" charset="-122"/>
                <a:cs typeface="Inter" pitchFamily="34" charset="-120"/>
              </a:rPr>
              <a:t> BMAD Method: SDD with a simulated team</a:t>
            </a:r>
            <a:endParaRPr lang="en-US" sz="1400" dirty="0"/>
          </a:p>
        </p:txBody>
      </p:sp>
      <p:sp>
        <p:nvSpPr>
          <p:cNvPr id="8" name="Shape 6"/>
          <p:cNvSpPr/>
          <p:nvPr/>
        </p:nvSpPr>
        <p:spPr>
          <a:xfrm>
            <a:off x="6200775" y="1989454"/>
            <a:ext cx="5175250" cy="2258695"/>
          </a:xfrm>
          <a:prstGeom prst="roundRect">
            <a:avLst>
              <a:gd name="adj" fmla="val 5482"/>
            </a:avLst>
          </a:prstGeom>
          <a:solidFill>
            <a:srgbClr val="FBF9F5"/>
          </a:solidFill>
          <a:ln w="6350">
            <a:solidFill>
              <a:srgbClr val="DDD6C8"/>
            </a:solidFill>
            <a:prstDash val="solid"/>
          </a:ln>
        </p:spPr>
      </p:sp>
      <p:sp>
        <p:nvSpPr>
          <p:cNvPr id="9" name="Text 7"/>
          <p:cNvSpPr/>
          <p:nvPr/>
        </p:nvSpPr>
        <p:spPr>
          <a:xfrm>
            <a:off x="6507480" y="2296164"/>
            <a:ext cx="469869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Autonomous loops</a:t>
            </a:r>
            <a:endParaRPr lang="en-US" sz="2000" dirty="0"/>
          </a:p>
        </p:txBody>
      </p:sp>
      <p:sp>
        <p:nvSpPr>
          <p:cNvPr id="10" name="Text 8"/>
          <p:cNvSpPr/>
          <p:nvPr/>
        </p:nvSpPr>
        <p:spPr>
          <a:xfrm>
            <a:off x="6507480" y="2727964"/>
            <a:ext cx="4698695"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1E23"/>
                </a:solidFill>
                <a:latin typeface="Inter" pitchFamily="34" charset="0"/>
                <a:ea typeface="Inter" pitchFamily="34" charset="-122"/>
                <a:cs typeface="Inter" pitchFamily="34" charset="-120"/>
              </a:rPr>
              <a:t>Give the agent a goal and a check (tests, build, checklist). It runs unattended until the checks pass.</a:t>
            </a:r>
            <a:endParaRPr lang="en-US" sz="1500" dirty="0"/>
          </a:p>
        </p:txBody>
      </p:sp>
      <p:sp>
        <p:nvSpPr>
          <p:cNvPr id="11" name="Text 9"/>
          <p:cNvSpPr/>
          <p:nvPr/>
        </p:nvSpPr>
        <p:spPr>
          <a:xfrm>
            <a:off x="6507480" y="3683639"/>
            <a:ext cx="4698695"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A8461F"/>
                </a:solidFill>
                <a:latin typeface="Inter" pitchFamily="34" charset="0"/>
                <a:ea typeface="Inter" pitchFamily="34" charset="-122"/>
                <a:cs typeface="Inter" pitchFamily="34" charset="-120"/>
              </a:rPr>
              <a:t>Catch</a:t>
            </a:r>
            <a:r>
              <a:rPr lang="en-US" sz="1400" dirty="0">
                <a:solidFill>
                  <a:srgbClr val="1B1E23"/>
                </a:solidFill>
                <a:latin typeface="Inter" pitchFamily="34" charset="0"/>
                <a:ea typeface="Inter" pitchFamily="34" charset="-122"/>
                <a:cs typeface="Inter" pitchFamily="34" charset="-120"/>
              </a:rPr>
              <a:t> only as trustworthy as your verification</a:t>
            </a:r>
            <a:endParaRPr lang="en-US" sz="1400" dirty="0"/>
          </a:p>
        </p:txBody>
      </p:sp>
      <p:sp>
        <p:nvSpPr>
          <p:cNvPr id="12"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Working with AI agents · Dev retreat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199946"/>
          </a:xfrm>
          <a:prstGeom prst="rect">
            <a:avLst/>
          </a:prstGeom>
          <a:noFill/>
          <a:ln/>
        </p:spPr>
        <p:txBody>
          <a:bodyPr wrap="square" lIns="0" tIns="0" rIns="0" bIns="0" rtlCol="0" anchor="t">
            <a:normAutofit/>
          </a:bodyPr>
          <a:lstStyle/>
          <a:p>
            <a:pPr algn="l" indent="0" marL="0">
              <a:lnSpc>
                <a:spcPts val="1370"/>
              </a:lnSpc>
              <a:buNone/>
            </a:pPr>
            <a:r>
              <a:rPr lang="en-US" sz="979" b="1" spc="150" kern="0" dirty="0">
                <a:solidFill>
                  <a:srgbClr val="A8461F"/>
                </a:solidFill>
                <a:latin typeface="Inter" pitchFamily="34" charset="0"/>
                <a:ea typeface="Inter" pitchFamily="34" charset="-122"/>
                <a:cs typeface="Inter" pitchFamily="34" charset="-120"/>
              </a:rPr>
              <a:t>SIDE BY SIDE</a:t>
            </a:r>
            <a:endParaRPr lang="en-US" sz="979" dirty="0"/>
          </a:p>
        </p:txBody>
      </p:sp>
      <p:sp>
        <p:nvSpPr>
          <p:cNvPr id="3" name="Text 1"/>
          <p:cNvSpPr/>
          <p:nvPr>
            <p:ph type="title"/>
          </p:nvPr>
        </p:nvSpPr>
        <p:spPr>
          <a:xfrm>
            <a:off x="812800" y="1088944"/>
            <a:ext cx="10883392" cy="436801"/>
          </a:xfrm>
          <a:prstGeom prst="rect">
            <a:avLst/>
          </a:prstGeom>
          <a:noFill/>
          <a:ln/>
        </p:spPr>
        <p:txBody>
          <a:bodyPr wrap="square" lIns="0" tIns="0" rIns="0" bIns="0" rtlCol="0" anchor="t">
            <a:normAutofit/>
          </a:bodyPr>
          <a:lstStyle/>
          <a:p>
            <a:pPr algn="l" indent="0" marL="0">
              <a:lnSpc>
                <a:spcPts val="3267"/>
              </a:lnSpc>
              <a:buNone/>
            </a:pPr>
            <a:r>
              <a:rPr lang="en-US" sz="2970" b="1" i="0" dirty="0">
                <a:solidFill>
                  <a:srgbClr val="1B1E23"/>
                </a:solidFill>
                <a:latin typeface="Space Grotesk" pitchFamily="34" charset="0"/>
                <a:ea typeface="Space Grotesk" pitchFamily="34" charset="-122"/>
                <a:cs typeface="Space Grotesk" pitchFamily="34" charset="-120"/>
              </a:rPr>
              <a:t>How the methods compare</a:t>
            </a:r>
            <a:endParaRPr lang="en-US" sz="297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66109"/>
          <a:ext cx="10556240" cy="3975894"/>
        </p:xfrm>
        <a:graphic>
          <a:graphicData uri="http://schemas.openxmlformats.org/drawingml/2006/table">
            <a:tbl>
              <a:tblPr/>
              <a:tblGrid>
                <a:gridCol w="2639060"/>
                <a:gridCol w="2639060"/>
                <a:gridCol w="2639060"/>
                <a:gridCol w="2639060"/>
              </a:tblGrid>
              <a:tr h="719772">
                <a:tc>
                  <a:txBody>
                    <a:bodyPr/>
                    <a:lstStyle/>
                    <a:p>
                      <a:pPr indent="0" marL="0">
                        <a:lnSpc>
                          <a:spcPts val="2093"/>
                        </a:lnSpc>
                        <a:buNone/>
                      </a:pPr>
                      <a:r>
                        <a:rPr lang="en-US" sz="1495" b="1" dirty="0">
                          <a:solidFill>
                            <a:srgbClr val="A8461F"/>
                          </a:solidFill>
                          <a:latin typeface="Inter" pitchFamily="34" charset="0"/>
                          <a:ea typeface="Inter" pitchFamily="34" charset="-122"/>
                          <a:cs typeface="Inter" pitchFamily="34" charset="-120"/>
                        </a:rPr>
                        <a:t>METHOD</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093"/>
                        </a:lnSpc>
                        <a:buNone/>
                      </a:pPr>
                      <a:r>
                        <a:rPr lang="en-US" sz="1495" b="1" dirty="0">
                          <a:solidFill>
                            <a:srgbClr val="A8461F"/>
                          </a:solidFill>
                          <a:latin typeface="Inter" pitchFamily="34" charset="0"/>
                          <a:ea typeface="Inter" pitchFamily="34" charset="-122"/>
                          <a:cs typeface="Inter" pitchFamily="34" charset="-120"/>
                        </a:rPr>
                        <a:t>INTENT WRITTEN UPFRONT</a:t>
                      </a:r>
                      <a:endParaRPr lang="en-US" sz="1495" dirty="0">
                        <a:latin typeface="Inter" charset="0"/>
                        <a:ea typeface="Inter" charset="0"/>
                        <a:cs typeface="Inter"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093"/>
                        </a:lnSpc>
                        <a:buNone/>
                      </a:pPr>
                      <a:r>
                        <a:rPr lang="en-US" sz="1495" b="1" dirty="0">
                          <a:solidFill>
                            <a:srgbClr val="A8461F"/>
                          </a:solidFill>
                          <a:latin typeface="Inter" pitchFamily="34" charset="0"/>
                          <a:ea typeface="Inter" pitchFamily="34" charset="-122"/>
                          <a:cs typeface="Inter" pitchFamily="34" charset="-120"/>
                        </a:rPr>
                        <a:t>VERIFIED BY</a:t>
                      </a:r>
                      <a:endParaRPr lang="en-US" sz="1495" dirty="0">
                        <a:latin typeface="Inter" charset="0"/>
                        <a:ea typeface="Inter" charset="0"/>
                        <a:cs typeface="Inter"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093"/>
                        </a:lnSpc>
                        <a:buNone/>
                      </a:pPr>
                      <a:r>
                        <a:rPr lang="en-US" sz="1495" b="1" dirty="0">
                          <a:solidFill>
                            <a:srgbClr val="A8461F"/>
                          </a:solidFill>
                          <a:latin typeface="Inter" pitchFamily="34" charset="0"/>
                          <a:ea typeface="Inter" pitchFamily="34" charset="-122"/>
                          <a:cs typeface="Inter" pitchFamily="34" charset="-120"/>
                        </a:rPr>
                        <a:t>BEST FOR</a:t>
                      </a:r>
                      <a:endParaRPr lang="en-US" sz="1495" dirty="0">
                        <a:latin typeface="Inter" charset="0"/>
                        <a:ea typeface="Inter" charset="0"/>
                        <a:cs typeface="Inter" charset="0"/>
                      </a:endParaRPr>
                    </a:p>
                  </a:txBody>
                  <a:tcPr marL="127000" marR="127000" marT="88900" marB="889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454104">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Vibe coding</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Minimal</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Eyeballing the result</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Prototypes</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719852">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AI pair programming</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Minimal</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Step-by-step human review</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Daily work</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719852">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Explore → Plan → Implement</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A per-task plan</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Plan and diff review</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Medium tasks</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54104">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Agentic TDD / BDD</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Tests or scenarios</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Executable tests</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Clear behavior</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54104">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Spec-driven development</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A living spec</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Acceptance criteria</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Features, teams</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54104">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Multi-agent / loops</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Spec plus checks</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Automated checks</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093"/>
                        </a:lnSpc>
                        <a:buNone/>
                      </a:pPr>
                      <a:r>
                        <a:rPr lang="en-US" sz="1495" dirty="0">
                          <a:solidFill>
                            <a:srgbClr val="1B1E23"/>
                          </a:solidFill>
                          <a:latin typeface="Inter" pitchFamily="34" charset="0"/>
                          <a:ea typeface="Inter" pitchFamily="34" charset="-122"/>
                          <a:cs typeface="Inter" pitchFamily="34" charset="-120"/>
                        </a:rPr>
                        <a:t>Large, long-running work</a:t>
                      </a:r>
                      <a:endParaRPr lang="en-US" sz="1495" dirty="0">
                        <a:latin typeface="Inter" charset="0"/>
                        <a:ea typeface="Inter" charset="0"/>
                        <a:cs typeface="Inter" charset="0"/>
                      </a:endParaRPr>
                    </a:p>
                  </a:txBody>
                  <a:tcPr marL="127000" marR="127000" marT="88900" marB="889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Working with AI agents · Dev retreat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61F"/>
                </a:solidFill>
                <a:latin typeface="Inter" pitchFamily="34" charset="0"/>
                <a:ea typeface="Inter" pitchFamily="34" charset="-122"/>
                <a:cs typeface="Inter" pitchFamily="34" charset="-120"/>
              </a:rPr>
              <a:t>PUTTING IT TOGETHER</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1E23"/>
                </a:solidFill>
                <a:latin typeface="Space Grotesk" pitchFamily="34" charset="0"/>
                <a:ea typeface="Space Grotesk" pitchFamily="34" charset="-122"/>
                <a:cs typeface="Space Grotesk" pitchFamily="34" charset="-120"/>
              </a:rPr>
              <a:t>A layered team setup</a:t>
            </a:r>
            <a:endParaRPr lang="en-US" sz="3600" dirty="0"/>
          </a:p>
        </p:txBody>
      </p:sp>
      <p:sp>
        <p:nvSpPr>
          <p:cNvPr id="4" name="Shape 2"/>
          <p:cNvSpPr/>
          <p:nvPr/>
        </p:nvSpPr>
        <p:spPr>
          <a:xfrm>
            <a:off x="815975" y="1989454"/>
            <a:ext cx="3431064" cy="1563370"/>
          </a:xfrm>
          <a:prstGeom prst="roundRect">
            <a:avLst>
              <a:gd name="adj" fmla="val 7920"/>
            </a:avLst>
          </a:prstGeom>
          <a:solidFill>
            <a:srgbClr val="FBF9F5"/>
          </a:solidFill>
          <a:ln w="6350">
            <a:solidFill>
              <a:srgbClr val="DDD6C8"/>
            </a:solidFill>
            <a:prstDash val="solid"/>
          </a:ln>
        </p:spPr>
      </p:sp>
      <p:sp>
        <p:nvSpPr>
          <p:cNvPr id="5" name="Text 3"/>
          <p:cNvSpPr/>
          <p:nvPr/>
        </p:nvSpPr>
        <p:spPr>
          <a:xfrm>
            <a:off x="1122680" y="2296164"/>
            <a:ext cx="290218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F"/>
                </a:solidFill>
                <a:latin typeface="Inter" pitchFamily="34" charset="0"/>
                <a:ea typeface="Inter" pitchFamily="34" charset="-122"/>
                <a:cs typeface="Inter" pitchFamily="34" charset="-120"/>
              </a:rPr>
              <a:t>THROWAWAY WORK</a:t>
            </a:r>
            <a:endParaRPr lang="en-US" sz="1200" dirty="0"/>
          </a:p>
        </p:txBody>
      </p:sp>
      <p:sp>
        <p:nvSpPr>
          <p:cNvPr id="6" name="Text 4"/>
          <p:cNvSpPr/>
          <p:nvPr/>
        </p:nvSpPr>
        <p:spPr>
          <a:xfrm>
            <a:off x="1122680" y="2636521"/>
            <a:ext cx="290218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Vibe coding</a:t>
            </a:r>
            <a:endParaRPr lang="en-US" sz="2000" dirty="0"/>
          </a:p>
        </p:txBody>
      </p:sp>
      <p:sp>
        <p:nvSpPr>
          <p:cNvPr id="7" name="Shape 5"/>
          <p:cNvSpPr/>
          <p:nvPr/>
        </p:nvSpPr>
        <p:spPr>
          <a:xfrm>
            <a:off x="4380389" y="1989454"/>
            <a:ext cx="3431143" cy="1563370"/>
          </a:xfrm>
          <a:prstGeom prst="roundRect">
            <a:avLst>
              <a:gd name="adj" fmla="val 7920"/>
            </a:avLst>
          </a:prstGeom>
          <a:solidFill>
            <a:srgbClr val="FBF9F5"/>
          </a:solidFill>
          <a:ln w="6350">
            <a:solidFill>
              <a:srgbClr val="DDD6C8"/>
            </a:solidFill>
            <a:prstDash val="solid"/>
          </a:ln>
        </p:spPr>
      </p:sp>
      <p:sp>
        <p:nvSpPr>
          <p:cNvPr id="8" name="Text 6"/>
          <p:cNvSpPr/>
          <p:nvPr/>
        </p:nvSpPr>
        <p:spPr>
          <a:xfrm>
            <a:off x="4687094" y="2296164"/>
            <a:ext cx="29022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F"/>
                </a:solidFill>
                <a:latin typeface="Inter" pitchFamily="34" charset="0"/>
                <a:ea typeface="Inter" pitchFamily="34" charset="-122"/>
                <a:cs typeface="Inter" pitchFamily="34" charset="-120"/>
              </a:rPr>
              <a:t>MEDIUM TASKS</a:t>
            </a:r>
            <a:endParaRPr lang="en-US" sz="1200" dirty="0"/>
          </a:p>
        </p:txBody>
      </p:sp>
      <p:sp>
        <p:nvSpPr>
          <p:cNvPr id="9" name="Text 7"/>
          <p:cNvSpPr/>
          <p:nvPr/>
        </p:nvSpPr>
        <p:spPr>
          <a:xfrm>
            <a:off x="4687094" y="2636521"/>
            <a:ext cx="2902265"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Explore → Plan → Implement</a:t>
            </a:r>
            <a:endParaRPr lang="en-US" sz="2000" dirty="0"/>
          </a:p>
        </p:txBody>
      </p:sp>
      <p:sp>
        <p:nvSpPr>
          <p:cNvPr id="10" name="Shape 8"/>
          <p:cNvSpPr/>
          <p:nvPr/>
        </p:nvSpPr>
        <p:spPr>
          <a:xfrm>
            <a:off x="7944882" y="1989454"/>
            <a:ext cx="3431143" cy="1563370"/>
          </a:xfrm>
          <a:prstGeom prst="roundRect">
            <a:avLst>
              <a:gd name="adj" fmla="val 7920"/>
            </a:avLst>
          </a:prstGeom>
          <a:solidFill>
            <a:srgbClr val="FBF9F5"/>
          </a:solidFill>
          <a:ln w="6350">
            <a:solidFill>
              <a:srgbClr val="DDD6C8"/>
            </a:solidFill>
            <a:prstDash val="solid"/>
          </a:ln>
        </p:spPr>
      </p:sp>
      <p:sp>
        <p:nvSpPr>
          <p:cNvPr id="11" name="Text 9"/>
          <p:cNvSpPr/>
          <p:nvPr/>
        </p:nvSpPr>
        <p:spPr>
          <a:xfrm>
            <a:off x="8251587" y="2296164"/>
            <a:ext cx="29022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F"/>
                </a:solidFill>
                <a:latin typeface="Inter" pitchFamily="34" charset="0"/>
                <a:ea typeface="Inter" pitchFamily="34" charset="-122"/>
                <a:cs typeface="Inter" pitchFamily="34" charset="-120"/>
              </a:rPr>
              <a:t>LARGER FEATURES</a:t>
            </a:r>
            <a:endParaRPr lang="en-US" sz="1200" dirty="0"/>
          </a:p>
        </p:txBody>
      </p:sp>
      <p:sp>
        <p:nvSpPr>
          <p:cNvPr id="12" name="Text 10"/>
          <p:cNvSpPr/>
          <p:nvPr/>
        </p:nvSpPr>
        <p:spPr>
          <a:xfrm>
            <a:off x="8251587" y="2636521"/>
            <a:ext cx="2902265"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E23"/>
                </a:solidFill>
                <a:latin typeface="Space Grotesk" pitchFamily="34" charset="0"/>
                <a:ea typeface="Space Grotesk" pitchFamily="34" charset="-122"/>
                <a:cs typeface="Space Grotesk" pitchFamily="34" charset="-120"/>
              </a:rPr>
              <a:t>Spec-driven development</a:t>
            </a:r>
            <a:endParaRPr lang="en-US" sz="2000" dirty="0"/>
          </a:p>
        </p:txBody>
      </p:sp>
      <p:sp>
        <p:nvSpPr>
          <p:cNvPr id="13" name="Text 11"/>
          <p:cNvSpPr/>
          <p:nvPr/>
        </p:nvSpPr>
        <p:spPr>
          <a:xfrm>
            <a:off x="812800" y="3683000"/>
            <a:ext cx="10566400" cy="673100"/>
          </a:xfrm>
          <a:prstGeom prst="roundRect">
            <a:avLst>
              <a:gd name="adj" fmla="val 18868"/>
            </a:avLst>
          </a:prstGeom>
          <a:solidFill>
            <a:srgbClr val="2C5A88"/>
          </a:solidFill>
          <a:ln/>
        </p:spPr>
        <p:txBody>
          <a:bodyPr wrap="square" lIns="267603" tIns="166003" rIns="0" bIns="140603" rtlCol="0" anchor="t">
            <a:normAutofit/>
          </a:bodyPr>
          <a:lstStyle/>
          <a:p>
            <a:pPr algn="l" indent="0" marL="0">
              <a:lnSpc>
                <a:spcPts val="2100"/>
              </a:lnSpc>
              <a:buNone/>
            </a:pPr>
            <a:r>
              <a:rPr lang="en-US" sz="1500" b="1" dirty="0">
                <a:solidFill>
                  <a:srgbClr val="F4F1EA"/>
                </a:solidFill>
                <a:latin typeface="Inter" pitchFamily="34" charset="0"/>
                <a:ea typeface="Inter" pitchFamily="34" charset="-122"/>
                <a:cs typeface="Inter" pitchFamily="34" charset="-120"/>
              </a:rPr>
              <a:t>Verification layer:</a:t>
            </a:r>
            <a:r>
              <a:rPr lang="en-US" sz="1500" dirty="0">
                <a:solidFill>
                  <a:srgbClr val="F4F1EA"/>
                </a:solidFill>
                <a:latin typeface="Inter" pitchFamily="34" charset="0"/>
                <a:ea typeface="Inter" pitchFamily="34" charset="-122"/>
                <a:cs typeface="Inter" pitchFamily="34" charset="-120"/>
              </a:rPr>
              <a:t> agentic TDD and CI checks across all of them</a:t>
            </a:r>
            <a:endParaRPr lang="en-US" sz="1500" dirty="0"/>
          </a:p>
        </p:txBody>
      </p:sp>
      <p:sp>
        <p:nvSpPr>
          <p:cNvPr id="14" name="Text 12"/>
          <p:cNvSpPr/>
          <p:nvPr/>
        </p:nvSpPr>
        <p:spPr>
          <a:xfrm>
            <a:off x="812800" y="4483100"/>
            <a:ext cx="10566400" cy="673100"/>
          </a:xfrm>
          <a:prstGeom prst="roundRect">
            <a:avLst>
              <a:gd name="adj" fmla="val 18868"/>
            </a:avLst>
          </a:prstGeom>
          <a:solidFill>
            <a:srgbClr val="15181D"/>
          </a:solidFill>
          <a:ln/>
        </p:spPr>
        <p:txBody>
          <a:bodyPr wrap="square" lIns="267603" tIns="166003" rIns="0" bIns="140603" rtlCol="0" anchor="t">
            <a:normAutofit/>
          </a:bodyPr>
          <a:lstStyle/>
          <a:p>
            <a:pPr algn="l" indent="0" marL="0">
              <a:lnSpc>
                <a:spcPts val="2100"/>
              </a:lnSpc>
              <a:buNone/>
            </a:pPr>
            <a:r>
              <a:rPr lang="en-US" sz="1500" b="1" dirty="0">
                <a:solidFill>
                  <a:srgbClr val="F4F1EA"/>
                </a:solidFill>
                <a:latin typeface="Inter" pitchFamily="34" charset="0"/>
                <a:ea typeface="Inter" pitchFamily="34" charset="-122"/>
                <a:cs typeface="Inter" pitchFamily="34" charset="-120"/>
              </a:rPr>
              <a:t>Foundation:</a:t>
            </a:r>
            <a:r>
              <a:rPr lang="en-US" sz="1500" dirty="0">
                <a:solidFill>
                  <a:srgbClr val="F4F1EA"/>
                </a:solidFill>
                <a:latin typeface="Inter" pitchFamily="34" charset="0"/>
                <a:ea typeface="Inter" pitchFamily="34" charset="-122"/>
                <a:cs typeface="Inter" pitchFamily="34" charset="-120"/>
              </a:rPr>
              <a:t> context engineering with instruction files in the repo</a:t>
            </a:r>
            <a:endParaRPr lang="en-US" sz="1500" dirty="0"/>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46C"/>
                </a:solidFill>
                <a:latin typeface="Inter" pitchFamily="34" charset="0"/>
                <a:ea typeface="Inter" pitchFamily="34" charset="-122"/>
                <a:cs typeface="Inter" pitchFamily="34" charset="-120"/>
              </a:rPr>
              <a:t>Working with AI agents · Dev retreat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18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875A"/>
                </a:solidFill>
                <a:latin typeface="Inter" pitchFamily="34" charset="0"/>
                <a:ea typeface="Inter" pitchFamily="34" charset="-122"/>
                <a:cs typeface="Inter" pitchFamily="34" charset="-120"/>
              </a:rPr>
              <a:t>DISCUSSION</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Space Grotesk" pitchFamily="34" charset="0"/>
                <a:ea typeface="Space Grotesk" pitchFamily="34" charset="-122"/>
                <a:cs typeface="Space Grotesk" pitchFamily="34" charset="-120"/>
              </a:rPr>
              <a:t>Questions for us</a:t>
            </a:r>
            <a:endParaRPr lang="en-US" sz="3600" dirty="0"/>
          </a:p>
        </p:txBody>
      </p:sp>
      <p:sp>
        <p:nvSpPr>
          <p:cNvPr id="4" name="Text 2"/>
          <p:cNvSpPr/>
          <p:nvPr/>
        </p:nvSpPr>
        <p:spPr>
          <a:xfrm>
            <a:off x="795734" y="1986279"/>
            <a:ext cx="9820196" cy="1397000"/>
          </a:xfrm>
          <a:prstGeom prst="rect">
            <a:avLst/>
          </a:prstGeom>
          <a:noFill/>
          <a:ln/>
        </p:spPr>
        <p:txBody>
          <a:bodyPr wrap="square" lIns="0" tIns="0" rIns="0" bIns="0" rtlCol="0" anchor="t">
            <a:normAutofit/>
          </a:bodyPr>
          <a:lstStyle/>
          <a:p>
            <a:pPr algn="l" marL="271066" indent="-271066">
              <a:lnSpc>
                <a:spcPts val="2700"/>
              </a:lnSpc>
              <a:buSzPct val="100000"/>
              <a:buFontTx/>
              <a:buAutoNum type="arabicPeriod" startAt="1"/>
            </a:pPr>
            <a:r>
              <a:rPr lang="en-US" sz="1800" dirty="0">
                <a:solidFill>
                  <a:srgbClr val="F4F1EA"/>
                </a:solidFill>
                <a:latin typeface="Inter" pitchFamily="34" charset="0"/>
                <a:ea typeface="Inter" pitchFamily="34" charset="-122"/>
                <a:cs typeface="Inter" pitchFamily="34" charset="-120"/>
              </a:rPr>
              <a:t>Where does our current way of working sit on the spectrum?</a:t>
            </a:r>
            <a:endParaRPr lang="en-US" sz="1800" dirty="0"/>
          </a:p>
          <a:p>
            <a:pPr algn="l" marL="271066" indent="-271066">
              <a:lnSpc>
                <a:spcPts val="2700"/>
              </a:lnSpc>
              <a:buSzPct val="100000"/>
              <a:buFontTx/>
              <a:buAutoNum type="arabicPeriod" startAt="1"/>
            </a:pPr>
            <a:r>
              <a:rPr lang="en-US" sz="1800" dirty="0">
                <a:solidFill>
                  <a:srgbClr val="F4F1EA"/>
                </a:solidFill>
                <a:latin typeface="Inter" pitchFamily="34" charset="0"/>
                <a:ea typeface="Inter" pitchFamily="34" charset="-122"/>
                <a:cs typeface="Inter" pitchFamily="34" charset="-120"/>
              </a:rPr>
              <a:t>Which Diveport work would benefit most from a spec-first approach?</a:t>
            </a:r>
            <a:endParaRPr lang="en-US" sz="1800" dirty="0"/>
          </a:p>
          <a:p>
            <a:pPr algn="l" marL="271066" indent="-271066">
              <a:lnSpc>
                <a:spcPts val="2700"/>
              </a:lnSpc>
              <a:buSzPct val="100000"/>
              <a:buFontTx/>
              <a:buAutoNum type="arabicPeriod" startAt="1"/>
            </a:pPr>
            <a:r>
              <a:rPr lang="en-US" sz="1800" dirty="0">
                <a:solidFill>
                  <a:srgbClr val="F4F1EA"/>
                </a:solidFill>
                <a:latin typeface="Inter" pitchFamily="34" charset="0"/>
                <a:ea typeface="Inter" pitchFamily="34" charset="-122"/>
                <a:cs typeface="Inter" pitchFamily="34" charset="-120"/>
              </a:rPr>
              <a:t>Who owns and maintains specs when agents write the code?</a:t>
            </a:r>
            <a:endParaRPr lang="en-US" sz="1800" dirty="0"/>
          </a:p>
          <a:p>
            <a:pPr algn="l" marL="271066" indent="-271066">
              <a:lnSpc>
                <a:spcPts val="2700"/>
              </a:lnSpc>
              <a:buSzPct val="100000"/>
              <a:buFontTx/>
              <a:buAutoNum type="arabicPeriod" startAt="1"/>
            </a:pPr>
            <a:r>
              <a:rPr lang="en-US" sz="1800" dirty="0">
                <a:solidFill>
                  <a:srgbClr val="F4F1EA"/>
                </a:solidFill>
                <a:latin typeface="Inter" pitchFamily="34" charset="0"/>
                <a:ea typeface="Inter" pitchFamily="34" charset="-122"/>
                <a:cs typeface="Inter" pitchFamily="34" charset="-120"/>
              </a:rPr>
              <a:t>Is our verification strong enough to trust more agent autonomy?</a:t>
            </a:r>
            <a:endParaRPr lang="en-US" sz="1800" dirty="0"/>
          </a:p>
        </p:txBody>
      </p:sp>
    </p:spTree>
  </p:cSld>
  <p:clrMapOvr>
    <a:masterClrMapping/>
  </p:clrMapOvr>
</p:sld>
</file>

<file path=ppt/theme/theme1.xml><?xml version="1.0" encoding="utf-8"?>
<a:theme xmlns:a="http://schemas.openxmlformats.org/drawingml/2006/main" name="Working with AI Agents: Development Methodologies">
  <a:themeElements>
    <a:clrScheme name="Working with AI Agents: Development Methodologies">
      <a:dk1>
        <a:srgbClr val="1B1E23"/>
      </a:dk1>
      <a:lt1>
        <a:srgbClr val="F4F1EA"/>
      </a:lt1>
      <a:dk2>
        <a:srgbClr val="515355"/>
      </a:dk2>
      <a:lt2>
        <a:srgbClr val="DEDCD6"/>
      </a:lt2>
      <a:accent1>
        <a:srgbClr val="A8461F"/>
      </a:accent1>
      <a:accent2>
        <a:srgbClr val="2C5A88"/>
      </a:accent2>
      <a:accent3>
        <a:srgbClr val="E8875A"/>
      </a:accent3>
      <a:accent4>
        <a:srgbClr val="5F646C"/>
      </a:accent4>
      <a:accent5>
        <a:srgbClr val="575C64"/>
      </a:accent5>
      <a:accent6>
        <a:srgbClr val="C4C7CC"/>
      </a:accent6>
      <a:hlink>
        <a:srgbClr val="0563C1"/>
      </a:hlink>
      <a:folHlink>
        <a:srgbClr val="954F72"/>
      </a:folHlink>
    </a:clrScheme>
    <a:fontScheme name="Working with AI Agents: Development Methodologie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with AI Agents: Development Methodologies</dc:title>
  <dc:subject/>
  <dc:creator/>
  <cp:lastModifiedBy/>
  <cp:revision>1</cp:revision>
  <dcterms:created xsi:type="dcterms:W3CDTF">2026-10-12T20:19:17Z</dcterms:created>
  <dcterms:modified xsi:type="dcterms:W3CDTF">2026-10-12T20:19:17Z</dcterms:modified>
</cp:coreProperties>
</file>